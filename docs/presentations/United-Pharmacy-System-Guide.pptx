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5197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jpeg"/><Relationship Id="rId4" Type="http://schemas.openxmlformats.org/officeDocument/2006/relationships/image" Target="../media/image4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583680" cy="6583680"/>
          </a:xfrm>
          <a:prstGeom prst="ellipse">
            <a:avLst/>
          </a:prstGeom>
          <a:solidFill>
            <a:srgbClr val="0E7E7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206240"/>
            <a:ext cx="5120640" cy="5120640"/>
          </a:xfrm>
          <a:prstGeom prst="ellipse">
            <a:avLst/>
          </a:prstGeom>
          <a:solidFill>
            <a:srgbClr val="15B0A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051560"/>
            <a:ext cx="1005840" cy="1005840"/>
          </a:xfrm>
          <a:prstGeom prst="roundRect">
            <a:avLst>
              <a:gd name="adj" fmla="val 23636"/>
            </a:avLst>
          </a:prstGeom>
          <a:solidFill>
            <a:srgbClr val="FFFFFF">
              <a:alpha val="5000"/>
            </a:srgbClr>
          </a:solidFill>
          <a:ln w="15875">
            <a:solidFill>
              <a:srgbClr val="15B0A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240" y="1261872"/>
            <a:ext cx="585216" cy="585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3317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400" dirty="0">
                <a:solidFill>
                  <a:srgbClr val="15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Pharmacy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278892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C7D0D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الدليل الشامل لنظام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31520" y="3401568"/>
            <a:ext cx="107286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Pharmacy</a:t>
            </a:r>
            <a:endParaRPr lang="en-US" sz="5400" dirty="0"/>
          </a:p>
        </p:txBody>
      </p:sp>
      <p:sp>
        <p:nvSpPr>
          <p:cNvPr id="9" name="Shape 6"/>
          <p:cNvSpPr/>
          <p:nvPr/>
        </p:nvSpPr>
        <p:spPr>
          <a:xfrm>
            <a:off x="3718408" y="4617720"/>
            <a:ext cx="4754880" cy="0"/>
          </a:xfrm>
          <a:prstGeom prst="line">
            <a:avLst/>
          </a:prstGeom>
          <a:noFill/>
          <a:ln w="12700">
            <a:solidFill>
              <a:srgbClr val="0E7E74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475488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5B8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الموقع الإلكتروني  •  لوحة التحكم  •  تطبيق الموبايل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598932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68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دليل تشغيلي كامل لكل الأدوار والأقسام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6074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Ctrl+Z إعداد فريق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0A1220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محتويات الدليل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207008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رحلة الدليل عبر أقسام النظام الثلاثة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1185855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454335" y="1828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04088" y="1892808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0E7E74">
              <a:alpha val="10000"/>
            </a:srgbClr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02082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828800"/>
            <a:ext cx="8808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A1220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نظرة عامة على النظام والأدوار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" y="2596896"/>
            <a:ext cx="11185855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454335" y="259689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704088" y="2660904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0E7E74">
              <a:alpha val="10000"/>
            </a:srgbClr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278892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596896"/>
            <a:ext cx="8808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A1220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لوحة التحكم — كل الأقسام بالتفصيل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02920" y="3364992"/>
            <a:ext cx="11185855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10454335" y="336499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704088" y="3429000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0E7E74">
              <a:alpha val="10000"/>
            </a:srgbClr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3557016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364992"/>
            <a:ext cx="8808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A1220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تطبيق الموبايل — تجربة العميل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502920" y="4133088"/>
            <a:ext cx="11185855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10454335" y="413308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Shape 16"/>
          <p:cNvSpPr/>
          <p:nvPr/>
        </p:nvSpPr>
        <p:spPr>
          <a:xfrm>
            <a:off x="704088" y="4197096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D9A441">
              <a:alpha val="10000"/>
            </a:srgbClr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4325112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4133088"/>
            <a:ext cx="8808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A1220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تجربة السائق الجديدة في التطبيق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502920" y="4901184"/>
            <a:ext cx="11185855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10454335" y="490118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Shape 20"/>
          <p:cNvSpPr/>
          <p:nvPr/>
        </p:nvSpPr>
        <p:spPr>
          <a:xfrm>
            <a:off x="704088" y="4965192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0E7E74">
              <a:alpha val="10000"/>
            </a:srgbClr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" y="5093208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17320" y="4901184"/>
            <a:ext cx="8808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A1220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الموقع الإلكتروني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502920" y="5669280"/>
            <a:ext cx="11185855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10454335" y="56692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31" name="Shape 24"/>
          <p:cNvSpPr/>
          <p:nvPr/>
        </p:nvSpPr>
        <p:spPr>
          <a:xfrm>
            <a:off x="704088" y="5733288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0E7E74">
              <a:alpha val="10000"/>
            </a:srgbClr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04" y="5861304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417320" y="5669280"/>
            <a:ext cx="8808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A1220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كيفية استخدام هذا الدليل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0A1220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نظرة عامة على النظام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18872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dirty="0">
                <a:solidFill>
                  <a:srgbClr val="64748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النظام مبني على ثلاثة أجزاء رئيسية تعمل مع بعضها بشكل متكامل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32308" y="2103120"/>
            <a:ext cx="3429000" cy="397764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35328" y="2560320"/>
            <a:ext cx="822960" cy="822960"/>
          </a:xfrm>
          <a:prstGeom prst="roundRect">
            <a:avLst>
              <a:gd name="adj" fmla="val 24444"/>
            </a:avLst>
          </a:prstGeom>
          <a:solidFill>
            <a:srgbClr val="0E7E74">
              <a:alpha val="12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7352" y="27523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0908" y="36576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220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الموقع الإلكتروني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52348" y="420624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واجهة العملاء على المتصفح — تصفّح، شراء، متابعة الطلبات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1348" y="2103120"/>
            <a:ext cx="3429000" cy="397764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84368" y="2560320"/>
            <a:ext cx="822960" cy="822960"/>
          </a:xfrm>
          <a:prstGeom prst="roundRect">
            <a:avLst>
              <a:gd name="adj" fmla="val 24444"/>
            </a:avLst>
          </a:prstGeom>
          <a:solidFill>
            <a:srgbClr val="8B5CF6">
              <a:alpha val="12000"/>
            </a:srgbClr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92" y="275234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09948" y="36576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220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لوحة التحكم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01388" y="420624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أدوات فريق العمل — الطلبات، المخزون، الروشتات، التوصيل، الموظفين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0388" y="2103120"/>
            <a:ext cx="3429000" cy="397764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33408" y="2560320"/>
            <a:ext cx="822960" cy="822960"/>
          </a:xfrm>
          <a:prstGeom prst="roundRect">
            <a:avLst>
              <a:gd name="adj" fmla="val 24444"/>
            </a:avLst>
          </a:prstGeom>
          <a:solidFill>
            <a:srgbClr val="3B82F6">
              <a:alpha val="12000"/>
            </a:srgbClr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5432" y="275234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8988" y="36576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220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تطبيق الموبايل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50428" y="420624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تطبيق واحد بتجربتين: العميل يتسوق، والسائق يوصّل الطلبات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0A1220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الأدوار في النظام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115568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كل شخص بيشتغل بالنظام له دور محدد، وكل دور له مهمته والأقسام المتاحة له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1704" y="1874520"/>
            <a:ext cx="2697480" cy="429768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2972" y="2240280"/>
            <a:ext cx="694944" cy="694944"/>
          </a:xfrm>
          <a:prstGeom prst="roundRect">
            <a:avLst>
              <a:gd name="adj" fmla="val 25000"/>
            </a:avLst>
          </a:prstGeom>
          <a:solidFill>
            <a:srgbClr val="0E7E74">
              <a:alpha val="12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564" y="240487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8864" y="31089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7E74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الأدمن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72872" y="3566160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صلاحية كاملة على كل أجزاء لوحة التحكم بدون استثناء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91744" y="4663440"/>
            <a:ext cx="2057400" cy="0"/>
          </a:xfrm>
          <a:prstGeom prst="line">
            <a:avLst/>
          </a:prstGeom>
          <a:noFill/>
          <a:ln w="12700">
            <a:solidFill>
              <a:srgbClr val="E2E8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2872" y="4800600"/>
            <a:ext cx="2295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الأقسام المتاحة: كل الأقسام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88640" y="1874520"/>
            <a:ext cx="2697480" cy="429768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89908" y="2240280"/>
            <a:ext cx="694944" cy="694944"/>
          </a:xfrm>
          <a:prstGeom prst="roundRect">
            <a:avLst>
              <a:gd name="adj" fmla="val 25000"/>
            </a:avLst>
          </a:prstGeom>
          <a:solidFill>
            <a:srgbClr val="8B5CF6">
              <a:alpha val="12000"/>
            </a:srgbClr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500" y="240487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5800" y="31089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B5CF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المدير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489808" y="3566160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إدارة العمليات اليومية للطلبات والتوصيل والمخزون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608680" y="4663440"/>
            <a:ext cx="2057400" cy="0"/>
          </a:xfrm>
          <a:prstGeom prst="line">
            <a:avLst/>
          </a:prstGeom>
          <a:noFill/>
          <a:ln w="12700">
            <a:solidFill>
              <a:srgbClr val="E2E8E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489808" y="4800600"/>
            <a:ext cx="2295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الأقسام المتاحة: كل الأقسام ما عدا إدارة الموظفين والمستخدمين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05576" y="1874520"/>
            <a:ext cx="2697480" cy="429768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206844" y="2240280"/>
            <a:ext cx="694944" cy="694944"/>
          </a:xfrm>
          <a:prstGeom prst="roundRect">
            <a:avLst>
              <a:gd name="adj" fmla="val 25000"/>
            </a:avLst>
          </a:prstGeom>
          <a:solidFill>
            <a:srgbClr val="3B82F6">
              <a:alpha val="12000"/>
            </a:srgbClr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1436" y="2404872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42736" y="31089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الصيدلي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406744" y="3566160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مراجعة الروشتات ومتابعة المنتجات والطلبات الخاصة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525616" y="4663440"/>
            <a:ext cx="2057400" cy="0"/>
          </a:xfrm>
          <a:prstGeom prst="line">
            <a:avLst/>
          </a:prstGeom>
          <a:noFill/>
          <a:ln w="12700">
            <a:solidFill>
              <a:srgbClr val="E2E8E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406744" y="4800600"/>
            <a:ext cx="2295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الأقسام المتاحة: الرئيسية، الروشتات، المنتجات، الإدخال السريع، الطلبات الخاصة، الإشعارات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9122512" y="1874520"/>
            <a:ext cx="2697480" cy="429768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0123780" y="2240280"/>
            <a:ext cx="694944" cy="694944"/>
          </a:xfrm>
          <a:prstGeom prst="roundRect">
            <a:avLst>
              <a:gd name="adj" fmla="val 25000"/>
            </a:avLst>
          </a:prstGeom>
          <a:solidFill>
            <a:srgbClr val="0EA5E9">
              <a:alpha val="12000"/>
            </a:srgbClr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8372" y="2404872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59672" y="31089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E9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السائق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9323680" y="3566160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استلام وتنفيذ طلبات التوصيل المُسنَدة له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9442552" y="4663440"/>
            <a:ext cx="2057400" cy="0"/>
          </a:xfrm>
          <a:prstGeom prst="line">
            <a:avLst/>
          </a:prstGeom>
          <a:noFill/>
          <a:ln w="12700">
            <a:solidFill>
              <a:srgbClr val="E2E8E7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323680" y="4800600"/>
            <a:ext cx="2295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الأقسام المتاحة: قسم مستقل بالكامل — خارج لوحة التحكم تمامًا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560320"/>
            <a:ext cx="5943600" cy="5943600"/>
          </a:xfrm>
          <a:prstGeom prst="ellipse">
            <a:avLst/>
          </a:prstGeom>
          <a:solidFill>
            <a:srgbClr val="0E7E74">
              <a:alpha val="11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4937760" cy="4937760"/>
          </a:xfrm>
          <a:prstGeom prst="ellipse">
            <a:avLst/>
          </a:prstGeom>
          <a:solidFill>
            <a:srgbClr val="15B0A0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38648" y="1965960"/>
            <a:ext cx="914400" cy="914400"/>
          </a:xfrm>
          <a:prstGeom prst="roundRect">
            <a:avLst>
              <a:gd name="adj" fmla="val 24000"/>
            </a:avLst>
          </a:prstGeom>
          <a:solidFill>
            <a:srgbClr val="FFFFFF">
              <a:alpha val="5000"/>
            </a:srgbClr>
          </a:solidFill>
          <a:ln w="13970">
            <a:solidFill>
              <a:srgbClr val="15B0A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672" y="2157984"/>
            <a:ext cx="530352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06324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B0A0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الجزء الأول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3474720"/>
            <a:ext cx="107286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لوحة التحكم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645920" y="4434840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9AA5B8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كل الأقسام اللي هيستخدمها فريق العمل يوميًا — بالتفصيل، قسم بقسم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21847" y="50292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0E7E74">
              <a:alpha val="1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502920"/>
            <a:ext cx="10500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A1220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الرئيسية — لوحة المعلومات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116007" y="13258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0E7E74">
              <a:alpha val="12000"/>
            </a:srgbClr>
          </a:solidFill>
          <a:ln w="9525">
            <a:solidFill>
              <a:srgbClr val="0E7E7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16007" y="13258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E74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أدمن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9229039" y="13258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8B5CF6">
              <a:alpha val="1200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229039" y="13258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مدير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342071" y="13258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3B82F6">
              <a:alpha val="12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42071" y="13258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صيدلي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1874520"/>
            <a:ext cx="11185855" cy="0"/>
          </a:xfrm>
          <a:prstGeom prst="line">
            <a:avLst/>
          </a:prstGeom>
          <a:noFill/>
          <a:ln w="12700">
            <a:solidFill>
              <a:srgbClr val="E2E8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2057400"/>
            <a:ext cx="5287975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أول شاشة بتظهر بعد الدخول — نظرة سريعة وشاملة على أداء الصيدلية في نفس اللحظة</a:t>
            </a:r>
            <a:endParaRPr lang="en-US" sz="13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إحصائيات المبيعات وعدد الطلبات اليوم والشهر</a:t>
            </a:r>
            <a:endParaRPr lang="en-US" sz="13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أكثر المنتجات مبيعًا خلال الفترة الحالية</a:t>
            </a:r>
            <a:endParaRPr lang="en-US" sz="13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تنبيه فوري عند انخفاض مخزون أي منتج</a:t>
            </a:r>
            <a:endParaRPr lang="en-US" sz="13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روابط سريعة لكل الأقسام التانية في النظام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6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" y="2887819"/>
            <a:ext cx="5577840" cy="2977612"/>
          </a:xfrm>
          <a:prstGeom prst="roundRect">
            <a:avLst>
              <a:gd name="adj" fmla="val 1535"/>
            </a:avLst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blurRad="203200" dist="508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9224" y="2988403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6" name="Shape 13"/>
          <p:cNvSpPr/>
          <p:nvPr/>
        </p:nvSpPr>
        <p:spPr>
          <a:xfrm>
            <a:off x="822960" y="2988403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7" name="Shape 14"/>
          <p:cNvSpPr/>
          <p:nvPr/>
        </p:nvSpPr>
        <p:spPr>
          <a:xfrm>
            <a:off x="996696" y="2988403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8" name="Image 1" descr="C:\Users\MOHAMED\AppData\Local\Temp\claude\I--United-Motaheda\1da6233e-6f6a-4c7c-bd60-ae4cc190787f\scratchpad\pptx_build\assets\admin_dashboar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6928" y="3180427"/>
            <a:ext cx="5449824" cy="2620996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851660" y="5954429"/>
            <a:ext cx="2880360" cy="329184"/>
          </a:xfrm>
          <a:prstGeom prst="roundRect">
            <a:avLst>
              <a:gd name="adj" fmla="val 50000"/>
            </a:avLst>
          </a:prstGeom>
          <a:solidFill>
            <a:srgbClr val="0A1220">
              <a:alpha val="8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1851660" y="5954429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الشاشة الرئيسية للوحة التحكم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21847" y="50292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0E7E74">
              <a:alpha val="1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502920"/>
            <a:ext cx="10500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A1220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إدارة الطلبات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116007" y="13258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0E7E74">
              <a:alpha val="12000"/>
            </a:srgbClr>
          </a:solidFill>
          <a:ln w="9525">
            <a:solidFill>
              <a:srgbClr val="0E7E7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16007" y="13258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E74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أدمن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9229039" y="13258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8B5CF6">
              <a:alpha val="1200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229039" y="13258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مدير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1874520"/>
            <a:ext cx="11185855" cy="0"/>
          </a:xfrm>
          <a:prstGeom prst="line">
            <a:avLst/>
          </a:prstGeom>
          <a:noFill/>
          <a:ln w="12700">
            <a:solidFill>
              <a:srgbClr val="E2E8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2057400"/>
            <a:ext cx="5287975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متابعة كل طلب من لحظة ما العميل يطلبه لحد ما يوصله</a:t>
            </a:r>
            <a:endParaRPr lang="en-US" sz="12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قائمة كل طلبات العملاء مع إمكانية البحث والفلترة</a:t>
            </a:r>
            <a:endParaRPr lang="en-US" sz="12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تفاصيل كاملة لكل طلب: المنتجات، العميل، العنوان، السعر</a:t>
            </a:r>
            <a:endParaRPr lang="en-US" sz="12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تغيير حالة الطلب خطوة بخطوة (قيد الانتظار، قيد التجهيز، خرج للتوصيل، تم التسليم)</a:t>
            </a:r>
            <a:endParaRPr lang="en-US" sz="12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التحقق من إثبات الدفع اليدوي لطلبات فودافون كاش وإنستاباي وقبوله أو رفضه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7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2920" y="2483454"/>
            <a:ext cx="5577840" cy="3767781"/>
          </a:xfrm>
          <a:prstGeom prst="roundRect">
            <a:avLst>
              <a:gd name="adj" fmla="val 1213"/>
            </a:avLst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blurRad="203200" dist="508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9224" y="2584038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1"/>
          <p:cNvSpPr/>
          <p:nvPr/>
        </p:nvSpPr>
        <p:spPr>
          <a:xfrm>
            <a:off x="822960" y="2584038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2"/>
          <p:cNvSpPr/>
          <p:nvPr/>
        </p:nvSpPr>
        <p:spPr>
          <a:xfrm>
            <a:off x="996696" y="2584038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6" name="Image 1" descr="C:\Users\MOHAMED\AppData\Local\Temp\claude\I--United-Motaheda\1da6233e-6f6a-4c7c-bd60-ae4cc190787f\scratchpad\pptx_build\assets\admin_order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6928" y="2776062"/>
            <a:ext cx="5449824" cy="3411165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308860" y="6126480"/>
            <a:ext cx="1965960" cy="329184"/>
          </a:xfrm>
          <a:prstGeom prst="roundRect">
            <a:avLst>
              <a:gd name="adj" fmla="val 50000"/>
            </a:avLst>
          </a:prstGeom>
          <a:solidFill>
            <a:srgbClr val="0A1220">
              <a:alpha val="8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2308860" y="612648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شاشة إدارة الطلبات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21847" y="50292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0E7E74">
              <a:alpha val="1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502920"/>
            <a:ext cx="10500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A1220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مركز العمليات — لوحة التوصيل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116007" y="13258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0E7E74">
              <a:alpha val="12000"/>
            </a:srgbClr>
          </a:solidFill>
          <a:ln w="9525">
            <a:solidFill>
              <a:srgbClr val="0E7E7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16007" y="13258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E74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أدمن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9229039" y="13258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8B5CF6">
              <a:alpha val="1200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229039" y="13258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مدير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1874520"/>
            <a:ext cx="11185855" cy="0"/>
          </a:xfrm>
          <a:prstGeom prst="line">
            <a:avLst/>
          </a:prstGeom>
          <a:noFill/>
          <a:ln w="12700">
            <a:solidFill>
              <a:srgbClr val="E2E8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2057400"/>
            <a:ext cx="5287975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الشاشة المخصصة لإدارة التوصيل بالكامل — تعيين السائقين ومتابعة كل طلب لحظة بلحظة</a:t>
            </a:r>
            <a:endParaRPr lang="en-US" sz="12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تعيين سائق لأي طلب بضغطة واحدة من قائمة السائقين النشطين</a:t>
            </a:r>
            <a:endParaRPr lang="en-US" sz="12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متابعة حالة كل طلب وموقعه في رحلة التوصيل</a:t>
            </a:r>
            <a:endParaRPr lang="en-US" sz="12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إحصائيات سريعة: عدد الطلبات في كل حالة، وعدد السائقين المشغولين حاليًا</a:t>
            </a:r>
            <a:endParaRPr lang="en-US" sz="12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بحث وفلترة حسب السائق أو حالة الطلب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8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2920" y="3078560"/>
            <a:ext cx="5577840" cy="2604884"/>
          </a:xfrm>
          <a:prstGeom prst="roundRect">
            <a:avLst>
              <a:gd name="adj" fmla="val 1755"/>
            </a:avLst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blurRad="203200" dist="508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9224" y="3179144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1"/>
          <p:cNvSpPr/>
          <p:nvPr/>
        </p:nvSpPr>
        <p:spPr>
          <a:xfrm>
            <a:off x="822960" y="3179144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2"/>
          <p:cNvSpPr/>
          <p:nvPr/>
        </p:nvSpPr>
        <p:spPr>
          <a:xfrm>
            <a:off x="996696" y="3179144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6" name="Image 1" descr="C:\Users\MOHAMED\AppData\Local\Temp\claude\I--United-Motaheda\1da6233e-6f6a-4c7c-bd60-ae4cc190787f\scratchpad\pptx_build\assets\admin_ops_hub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6928" y="3371168"/>
            <a:ext cx="5449824" cy="224826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623060" y="5763688"/>
            <a:ext cx="3337560" cy="329184"/>
          </a:xfrm>
          <a:prstGeom prst="roundRect">
            <a:avLst>
              <a:gd name="adj" fmla="val 50000"/>
            </a:avLst>
          </a:prstGeom>
          <a:solidFill>
            <a:srgbClr val="0A1220">
              <a:alpha val="8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1623060" y="576368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مركز العمليات ولوحة التوصيل الحية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21847" y="50292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0E7E74">
              <a:alpha val="1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502920"/>
            <a:ext cx="10500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A1220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نظام قبول ورفض السائق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9978847" y="132588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6" name="Text 3"/>
          <p:cNvSpPr/>
          <p:nvPr/>
        </p:nvSpPr>
        <p:spPr>
          <a:xfrm>
            <a:off x="9978847" y="13258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جديد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9091879" y="13258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0E7E74">
              <a:alpha val="12000"/>
            </a:srgbClr>
          </a:solidFill>
          <a:ln w="9525">
            <a:solidFill>
              <a:srgbClr val="0E7E7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091879" y="13258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E74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أدمن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04911" y="13258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8B5CF6">
              <a:alpha val="1200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04911" y="13258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مدير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1874520"/>
            <a:ext cx="11185855" cy="0"/>
          </a:xfrm>
          <a:prstGeom prst="line">
            <a:avLst/>
          </a:prstGeom>
          <a:noFill/>
          <a:ln w="12700">
            <a:solidFill>
              <a:srgbClr val="E2E8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2057400"/>
            <a:ext cx="5287975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تطوير جديد بيدي فريق العمليات رؤية كاملة لرد فعل السائق على أي طلب، مش بس تعيينه</a:t>
            </a:r>
            <a:endParaRPr lang="en-US" sz="12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السائق بيقدر يقبل أو يرفض الطلب المُسنَد له بدل ما يكون إجباري</a:t>
            </a:r>
            <a:endParaRPr lang="en-US" sz="12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شارة ملوّنة توضح من قد إيه السائق مستني الرد (أخضر ثم أصفر ثم أحمر كل ما الوقت طال)</a:t>
            </a:r>
            <a:endParaRPr lang="en-US" sz="12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لو السائق رفض، الطلب يترجع تلقائيًا ويقدر أي مسؤول يعيد إسناده لسائق تاني بضغطة واحدة</a:t>
            </a:r>
            <a:endParaRPr lang="en-US" sz="12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قسم مستقل يجمع كل المشاكل اللي بلّغ عنها السائقين أثناء التوصيل عشان تتراجع وتتحل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9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" y="2761247"/>
            <a:ext cx="5577840" cy="2935705"/>
          </a:xfrm>
          <a:prstGeom prst="roundRect">
            <a:avLst>
              <a:gd name="adj" fmla="val 1557"/>
            </a:avLst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blurRad="1524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9224" y="2861831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6" name="Shape 13"/>
          <p:cNvSpPr/>
          <p:nvPr/>
        </p:nvSpPr>
        <p:spPr>
          <a:xfrm>
            <a:off x="822960" y="2861831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7" name="Shape 14"/>
          <p:cNvSpPr/>
          <p:nvPr/>
        </p:nvSpPr>
        <p:spPr>
          <a:xfrm>
            <a:off x="996696" y="2861831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8" name="Image 2" descr="ops_driver_problems_dashboar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6928" y="3053855"/>
            <a:ext cx="5449824" cy="2579089"/>
          </a:xfrm>
          <a:prstGeom prst="roundRect">
            <a:avLst>
              <a:gd name="adj" fmla="val 1418"/>
            </a:avLst>
          </a:prstGeom>
        </p:spPr>
      </p:pic>
      <p:sp>
        <p:nvSpPr>
          <p:cNvPr id="19" name="Shape 16"/>
          <p:cNvSpPr/>
          <p:nvPr/>
        </p:nvSpPr>
        <p:spPr>
          <a:xfrm>
            <a:off x="853440" y="5785950"/>
            <a:ext cx="4876800" cy="329184"/>
          </a:xfrm>
          <a:prstGeom prst="roundRect">
            <a:avLst>
              <a:gd name="adj" fmla="val 50000"/>
            </a:avLst>
          </a:prstGeom>
          <a:solidFill>
            <a:srgbClr val="0A1220">
              <a:alpha val="8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853440" y="5785950"/>
            <a:ext cx="487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شارة حالة رد السائق وقائمة المشاكل المُبلّغ عنها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21847" y="50292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0E7E74">
              <a:alpha val="1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502920"/>
            <a:ext cx="10500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A1220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إدارة الروشتات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116007" y="13258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0E7E74">
              <a:alpha val="12000"/>
            </a:srgbClr>
          </a:solidFill>
          <a:ln w="9525">
            <a:solidFill>
              <a:srgbClr val="0E7E7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16007" y="13258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E74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أدمن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9229039" y="13258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8B5CF6">
              <a:alpha val="1200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229039" y="13258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مدير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342071" y="13258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3B82F6">
              <a:alpha val="12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42071" y="13258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صيدلي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1874520"/>
            <a:ext cx="11185855" cy="0"/>
          </a:xfrm>
          <a:prstGeom prst="line">
            <a:avLst/>
          </a:prstGeom>
          <a:noFill/>
          <a:ln w="12700">
            <a:solidFill>
              <a:srgbClr val="E2E8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2057400"/>
            <a:ext cx="5287975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مراجعة كل روشتة يبعتها عميل، والموافقة عليها أو رفضها قبل ما يتم صرفها</a:t>
            </a:r>
            <a:endParaRPr lang="en-US" sz="12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تبويبين منفصلين: روشتات جديدة، وطلبات إعادة صرف روشتة قديمة</a:t>
            </a:r>
            <a:endParaRPr lang="en-US" sz="12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تفاصيل كل روشتة: اسم الدواء، الجرعة، اسم الطبيب، ورقم الروشتة إن وُجد</a:t>
            </a:r>
            <a:endParaRPr lang="en-US" sz="12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الموافقة أو الرفض مع كتابة سبب واضح في حالة الرفض</a:t>
            </a:r>
            <a:endParaRPr lang="en-US" sz="12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العميل بياخد إشعار فوري بقرار المراجعة على التطبيق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10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" y="3072683"/>
            <a:ext cx="5577840" cy="2616369"/>
          </a:xfrm>
          <a:prstGeom prst="roundRect">
            <a:avLst>
              <a:gd name="adj" fmla="val 1747"/>
            </a:avLst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blurRad="203200" dist="508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9224" y="3173267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6" name="Shape 13"/>
          <p:cNvSpPr/>
          <p:nvPr/>
        </p:nvSpPr>
        <p:spPr>
          <a:xfrm>
            <a:off x="822960" y="3173267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7" name="Shape 14"/>
          <p:cNvSpPr/>
          <p:nvPr/>
        </p:nvSpPr>
        <p:spPr>
          <a:xfrm>
            <a:off x="996696" y="3173267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8" name="Image 1" descr="C:\Users\MOHAMED\AppData\Local\Temp\claude\I--United-Motaheda\1da6233e-6f6a-4c7c-bd60-ae4cc190787f\scratchpad\pptx_build\assets\admin_prescription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6928" y="3365291"/>
            <a:ext cx="5449824" cy="2259753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2217420" y="5769565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0A1220">
              <a:alpha val="8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2217420" y="5769565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شاشة مراجعة الروشتات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21847" y="50292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0E7E74">
              <a:alpha val="1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502920"/>
            <a:ext cx="10500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A1220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إدارة المنتجات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116007" y="13258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0E7E74">
              <a:alpha val="12000"/>
            </a:srgbClr>
          </a:solidFill>
          <a:ln w="9525">
            <a:solidFill>
              <a:srgbClr val="0E7E7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16007" y="13258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E74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أدمن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9229039" y="13258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8B5CF6">
              <a:alpha val="1200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229039" y="13258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مدير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342071" y="13258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3B82F6">
              <a:alpha val="12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42071" y="13258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صيدلي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1874520"/>
            <a:ext cx="11185855" cy="0"/>
          </a:xfrm>
          <a:prstGeom prst="line">
            <a:avLst/>
          </a:prstGeom>
          <a:noFill/>
          <a:ln w="12700">
            <a:solidFill>
              <a:srgbClr val="E2E8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2057400"/>
            <a:ext cx="5287975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التحكم الكامل في كتالوج المنتجات — الإضافة، التعديل، المخزون، والعروض</a:t>
            </a:r>
            <a:endParaRPr lang="en-US" sz="12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إضافة أو تعديل أو حذف أي منتج يدويًا مع كل بياناته</a:t>
            </a:r>
            <a:endParaRPr lang="en-US" sz="12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استيراد ملف CSV لإضافة عدد كبير من المنتجات دفعة واحدة (مفيد جدًا عند توريد جديد)</a:t>
            </a:r>
            <a:endParaRPr lang="en-US" sz="12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مسح باركود المنتج فعليًا وربطه بسجله في النظام</a:t>
            </a:r>
            <a:endParaRPr lang="en-US" sz="12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تفعيل عرض على أي منتج وتحديد السعر الأصلي قبل الخصم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11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" y="2459152"/>
            <a:ext cx="5577840" cy="3815269"/>
          </a:xfrm>
          <a:prstGeom prst="roundRect">
            <a:avLst>
              <a:gd name="adj" fmla="val 1198"/>
            </a:avLst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blurRad="203200" dist="508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9224" y="2559736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6" name="Shape 13"/>
          <p:cNvSpPr/>
          <p:nvPr/>
        </p:nvSpPr>
        <p:spPr>
          <a:xfrm>
            <a:off x="822960" y="2559736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7" name="Shape 14"/>
          <p:cNvSpPr/>
          <p:nvPr/>
        </p:nvSpPr>
        <p:spPr>
          <a:xfrm>
            <a:off x="996696" y="2559736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8" name="Image 1" descr="C:\Users\MOHAMED\AppData\Local\Temp\claude\I--United-Motaheda\1da6233e-6f6a-4c7c-bd60-ae4cc190787f\scratchpad\pptx_build\assets\admin_product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6928" y="2751760"/>
            <a:ext cx="5449824" cy="3458653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531620" y="6126480"/>
            <a:ext cx="3520440" cy="329184"/>
          </a:xfrm>
          <a:prstGeom prst="roundRect">
            <a:avLst>
              <a:gd name="adj" fmla="val 50000"/>
            </a:avLst>
          </a:prstGeom>
          <a:solidFill>
            <a:srgbClr val="0A1220">
              <a:alpha val="8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1531620" y="612648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شاشة إدارة المنتجات وكتالوج المخزون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21847" y="50292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0E7E74">
              <a:alpha val="1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502920"/>
            <a:ext cx="10500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A1220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الإدخال السريع للمنتجات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116007" y="13258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0E7E74">
              <a:alpha val="12000"/>
            </a:srgbClr>
          </a:solidFill>
          <a:ln w="9525">
            <a:solidFill>
              <a:srgbClr val="0E7E7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16007" y="13258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E74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أدمن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9229039" y="13258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8B5CF6">
              <a:alpha val="1200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229039" y="13258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مدير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342071" y="13258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3B82F6">
              <a:alpha val="12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42071" y="13258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صيدلي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1874520"/>
            <a:ext cx="11185855" cy="0"/>
          </a:xfrm>
          <a:prstGeom prst="line">
            <a:avLst/>
          </a:prstGeom>
          <a:noFill/>
          <a:ln w="12700">
            <a:solidFill>
              <a:srgbClr val="E2E8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2057400"/>
            <a:ext cx="5287975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شاشة مختصرة ومباشرة لإضافة منتجات بسرعة وقت الجرد أو استلام شحنة كبيرة</a:t>
            </a:r>
            <a:endParaRPr lang="en-US" sz="13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نموذج مبسّط يركّز على أهم البيانات فقط بدل كل التفاصيل</a:t>
            </a:r>
            <a:endParaRPr lang="en-US" sz="13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أسرع بكثير من شاشة إدارة المنتجات العادية للحالات المستعجلة</a:t>
            </a:r>
            <a:endParaRPr lang="en-US" sz="13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مناسبة لحظة استلام توريد جديد بكمية كبيرة من الأصناف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12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" y="2484554"/>
            <a:ext cx="5577840" cy="3765630"/>
          </a:xfrm>
          <a:prstGeom prst="roundRect">
            <a:avLst>
              <a:gd name="adj" fmla="val 1214"/>
            </a:avLst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blurRad="203200" dist="508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9224" y="2585138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6" name="Shape 13"/>
          <p:cNvSpPr/>
          <p:nvPr/>
        </p:nvSpPr>
        <p:spPr>
          <a:xfrm>
            <a:off x="822960" y="2585138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7" name="Shape 14"/>
          <p:cNvSpPr/>
          <p:nvPr/>
        </p:nvSpPr>
        <p:spPr>
          <a:xfrm>
            <a:off x="996696" y="2585138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8" name="Image 1" descr="C:\Users\MOHAMED\AppData\Local\Temp\claude\I--United-Motaheda\1da6233e-6f6a-4c7c-bd60-ae4cc190787f\scratchpad\pptx_build\assets\admin_quick_entry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6928" y="2777162"/>
            <a:ext cx="5449824" cy="3409014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760220" y="6126480"/>
            <a:ext cx="3063240" cy="329184"/>
          </a:xfrm>
          <a:prstGeom prst="roundRect">
            <a:avLst>
              <a:gd name="adj" fmla="val 50000"/>
            </a:avLst>
          </a:prstGeom>
          <a:solidFill>
            <a:srgbClr val="0A1220">
              <a:alpha val="8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1760220" y="612648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شاشة الإدخال السريع لمنتج جديد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21847" y="50292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0E7E74">
              <a:alpha val="1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502920"/>
            <a:ext cx="10500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A1220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الطلبات الخاصة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116007" y="13258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0E7E74">
              <a:alpha val="12000"/>
            </a:srgbClr>
          </a:solidFill>
          <a:ln w="9525">
            <a:solidFill>
              <a:srgbClr val="0E7E7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16007" y="13258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E74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أدمن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9229039" y="13258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8B5CF6">
              <a:alpha val="1200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229039" y="13258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مدير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342071" y="13258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3B82F6">
              <a:alpha val="12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42071" y="13258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صيدلي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1874520"/>
            <a:ext cx="11185855" cy="0"/>
          </a:xfrm>
          <a:prstGeom prst="line">
            <a:avLst/>
          </a:prstGeom>
          <a:noFill/>
          <a:ln w="12700">
            <a:solidFill>
              <a:srgbClr val="E2E8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2057400"/>
            <a:ext cx="5287975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طلبات العملاء على منتجات مش موجودة حاليًا في كتالوج المتجر</a:t>
            </a:r>
            <a:endParaRPr lang="en-US" sz="13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عرض تفاصيل طلب العميل: اسم المنتج المطلوب، الكمية، وبيانات التواصل</a:t>
            </a:r>
            <a:endParaRPr lang="en-US" sz="13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متابعة حالة كل طلب لحد ما يتم توفير المنتج أو الرد على العميل</a:t>
            </a:r>
            <a:endParaRPr lang="en-US" sz="13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قناة تواصل مباشرة تضمن إن طلب العميل ميضيعش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13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" y="2498855"/>
            <a:ext cx="5577840" cy="3737685"/>
          </a:xfrm>
          <a:prstGeom prst="roundRect">
            <a:avLst>
              <a:gd name="adj" fmla="val 1223"/>
            </a:avLst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blurRad="203200" dist="508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9224" y="2599439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6" name="Shape 13"/>
          <p:cNvSpPr/>
          <p:nvPr/>
        </p:nvSpPr>
        <p:spPr>
          <a:xfrm>
            <a:off x="822960" y="2599439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7" name="Shape 14"/>
          <p:cNvSpPr/>
          <p:nvPr/>
        </p:nvSpPr>
        <p:spPr>
          <a:xfrm>
            <a:off x="996696" y="2599439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8" name="Image 1" descr="C:\Users\MOHAMED\AppData\Local\Temp\claude\I--United-Motaheda\1da6233e-6f6a-4c7c-bd60-ae4cc190787f\scratchpad\pptx_build\assets\admin_special_order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6928" y="2791463"/>
            <a:ext cx="5449824" cy="3381069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394460" y="6126480"/>
            <a:ext cx="3794760" cy="329184"/>
          </a:xfrm>
          <a:prstGeom prst="roundRect">
            <a:avLst>
              <a:gd name="adj" fmla="val 50000"/>
            </a:avLst>
          </a:prstGeom>
          <a:solidFill>
            <a:srgbClr val="0A1220">
              <a:alpha val="8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1394460" y="612648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شاشة الطلبات الخاصة الواردة من العملاء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21847" y="50292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0E7E74">
              <a:alpha val="1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502920"/>
            <a:ext cx="10500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A1220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إدارة الموظفين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116007" y="13258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0E7E74">
              <a:alpha val="12000"/>
            </a:srgbClr>
          </a:solidFill>
          <a:ln w="9525">
            <a:solidFill>
              <a:srgbClr val="0E7E7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16007" y="13258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E74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أدمن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874520"/>
            <a:ext cx="11185855" cy="0"/>
          </a:xfrm>
          <a:prstGeom prst="line">
            <a:avLst/>
          </a:prstGeom>
          <a:noFill/>
          <a:ln w="12700">
            <a:solidFill>
              <a:srgbClr val="E2E8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0" y="2057400"/>
            <a:ext cx="5287975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إدارة حسابات كل فريق العمل — الصيادلة، المديرين، والسائقين</a:t>
            </a:r>
            <a:endParaRPr lang="en-US" sz="13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إضافة موظف جديد وتحديد دوره في النظام (مدير، صيدلي، سائق)</a:t>
            </a:r>
            <a:endParaRPr lang="en-US" sz="13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تفعيل أو إيقاف حساب أي موظف مؤقتًا</a:t>
            </a:r>
            <a:endParaRPr lang="en-US" sz="13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متابعة حالة كل موظف (نشط أو غير نشط) في أي وقت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14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2474208"/>
            <a:ext cx="5577840" cy="3785848"/>
          </a:xfrm>
          <a:prstGeom prst="roundRect">
            <a:avLst>
              <a:gd name="adj" fmla="val 1208"/>
            </a:avLst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blurRad="203200" dist="508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" y="2574792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2" name="Shape 9"/>
          <p:cNvSpPr/>
          <p:nvPr/>
        </p:nvSpPr>
        <p:spPr>
          <a:xfrm>
            <a:off x="822960" y="2574792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Shape 10"/>
          <p:cNvSpPr/>
          <p:nvPr/>
        </p:nvSpPr>
        <p:spPr>
          <a:xfrm>
            <a:off x="996696" y="2574792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4" name="Image 1" descr="C:\Users\MOHAMED\AppData\Local\Temp\claude\I--United-Motaheda\1da6233e-6f6a-4c7c-bd60-ae4cc190787f\scratchpad\pptx_build\assets\admin_employee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6928" y="2766816"/>
            <a:ext cx="5449824" cy="342923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263140" y="6126480"/>
            <a:ext cx="2057400" cy="329184"/>
          </a:xfrm>
          <a:prstGeom prst="roundRect">
            <a:avLst>
              <a:gd name="adj" fmla="val 50000"/>
            </a:avLst>
          </a:prstGeom>
          <a:solidFill>
            <a:srgbClr val="0A1220">
              <a:alpha val="8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2263140" y="612648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شاشة إدارة الموظفين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21847" y="50292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0E7E74">
              <a:alpha val="1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502920"/>
            <a:ext cx="10500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A1220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إدارة المستخدمين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116007" y="13258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0E7E74">
              <a:alpha val="12000"/>
            </a:srgbClr>
          </a:solidFill>
          <a:ln w="9525">
            <a:solidFill>
              <a:srgbClr val="0E7E7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16007" y="13258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E74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أدمن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874520"/>
            <a:ext cx="11185855" cy="0"/>
          </a:xfrm>
          <a:prstGeom prst="line">
            <a:avLst/>
          </a:prstGeom>
          <a:noFill/>
          <a:ln w="12700">
            <a:solidFill>
              <a:srgbClr val="E2E8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0" y="2057400"/>
            <a:ext cx="5287975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إدارة كل حسابات العملاء المسجلين في المتجر</a:t>
            </a:r>
            <a:endParaRPr lang="en-US" sz="12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البحث عن أي عميل بالاسم أو رقم الهاتف أو البريد الإلكتروني</a:t>
            </a:r>
            <a:endParaRPr lang="en-US" sz="12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إيقاف حساب عميل مؤقتًا مع كتابة السبب بشكل واضح</a:t>
            </a:r>
            <a:endParaRPr lang="en-US" sz="12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حذف حساب نهائيًا عند الحاجة، مع الاحتفاظ بسجل كامل للإجراء</a:t>
            </a:r>
            <a:endParaRPr lang="en-US" sz="12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سجل تدقيق يوضح كل إجراء اتخذ ومين اللي اتخذه ومتى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15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2492270"/>
            <a:ext cx="5577840" cy="3750553"/>
          </a:xfrm>
          <a:prstGeom prst="roundRect">
            <a:avLst>
              <a:gd name="adj" fmla="val 1219"/>
            </a:avLst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blurRad="203200" dist="508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" y="2592854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2" name="Shape 9"/>
          <p:cNvSpPr/>
          <p:nvPr/>
        </p:nvSpPr>
        <p:spPr>
          <a:xfrm>
            <a:off x="822960" y="2592854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Shape 10"/>
          <p:cNvSpPr/>
          <p:nvPr/>
        </p:nvSpPr>
        <p:spPr>
          <a:xfrm>
            <a:off x="996696" y="2592854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4" name="Image 1" descr="C:\Users\MOHAMED\AppData\Local\Temp\claude\I--United-Motaheda\1da6233e-6f6a-4c7c-bd60-ae4cc190787f\scratchpad\pptx_build\assets\admin_user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6928" y="2784878"/>
            <a:ext cx="5449824" cy="3393937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171700" y="6126480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0A1220">
              <a:alpha val="8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2171700" y="61264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شاشة إدارة المستخدمين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21847" y="50292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0E7E74">
              <a:alpha val="1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502920"/>
            <a:ext cx="10500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A1220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الإشعارات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116007" y="13258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0E7E74">
              <a:alpha val="12000"/>
            </a:srgbClr>
          </a:solidFill>
          <a:ln w="9525">
            <a:solidFill>
              <a:srgbClr val="0E7E7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16007" y="13258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E74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أدمن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9229039" y="13258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8B5CF6">
              <a:alpha val="1200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229039" y="13258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مدير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342071" y="13258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3B82F6">
              <a:alpha val="12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42071" y="13258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صيدلي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1874520"/>
            <a:ext cx="11185855" cy="0"/>
          </a:xfrm>
          <a:prstGeom prst="line">
            <a:avLst/>
          </a:prstGeom>
          <a:noFill/>
          <a:ln w="12700">
            <a:solidFill>
              <a:srgbClr val="E2E8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2057400"/>
            <a:ext cx="5287975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إرسال إشعارات يدوية للعملاء، بجانب الإشعارات التلقائية اللي بيرسلها النظام نفسه</a:t>
            </a:r>
            <a:endParaRPr lang="en-US" sz="12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اختيار المستلمين بالبحث بالاسم أو رقم الهاتف أو البريد الإلكتروني مباشرة</a:t>
            </a:r>
            <a:endParaRPr lang="en-US" sz="12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معاينة كل مستلم بالصورة والاسم قبل تأكيد الإرسال</a:t>
            </a:r>
            <a:endParaRPr lang="en-US" sz="12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إرسال لعميل واحد أو لمجموعة عملاء دفعة واحدة</a:t>
            </a:r>
            <a:endParaRPr lang="en-US" sz="12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متابعة مباشرة لكل الإشعارات اللي بتتبعت في النظام لحظة بلحظة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16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" y="2493380"/>
            <a:ext cx="5577840" cy="3748384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blurRad="203200" dist="508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9224" y="2593964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6" name="Shape 13"/>
          <p:cNvSpPr/>
          <p:nvPr/>
        </p:nvSpPr>
        <p:spPr>
          <a:xfrm>
            <a:off x="822960" y="2593964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7" name="Shape 14"/>
          <p:cNvSpPr/>
          <p:nvPr/>
        </p:nvSpPr>
        <p:spPr>
          <a:xfrm>
            <a:off x="996696" y="2593964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8" name="Image 1" descr="C:\Users\MOHAMED\AppData\Local\Temp\claude\I--United-Motaheda\1da6233e-6f6a-4c7c-bd60-ae4cc190787f\scratchpad\pptx_build\assets\admin_notification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6928" y="2785988"/>
            <a:ext cx="5449824" cy="339176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897380" y="6126480"/>
            <a:ext cx="2788920" cy="329184"/>
          </a:xfrm>
          <a:prstGeom prst="roundRect">
            <a:avLst>
              <a:gd name="adj" fmla="val 50000"/>
            </a:avLst>
          </a:prstGeom>
          <a:solidFill>
            <a:srgbClr val="0A1220">
              <a:alpha val="8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1897380" y="612648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شاشة الإشعارات وسجل الإرسال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560320"/>
            <a:ext cx="5943600" cy="5943600"/>
          </a:xfrm>
          <a:prstGeom prst="ellipse">
            <a:avLst/>
          </a:prstGeom>
          <a:solidFill>
            <a:srgbClr val="0E7E74">
              <a:alpha val="11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4937760" cy="4937760"/>
          </a:xfrm>
          <a:prstGeom prst="ellipse">
            <a:avLst/>
          </a:prstGeom>
          <a:solidFill>
            <a:srgbClr val="15B0A0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38648" y="1965960"/>
            <a:ext cx="914400" cy="914400"/>
          </a:xfrm>
          <a:prstGeom prst="roundRect">
            <a:avLst>
              <a:gd name="adj" fmla="val 24000"/>
            </a:avLst>
          </a:prstGeom>
          <a:solidFill>
            <a:srgbClr val="FFFFFF">
              <a:alpha val="5000"/>
            </a:srgbClr>
          </a:solidFill>
          <a:ln w="13970">
            <a:solidFill>
              <a:srgbClr val="15B0A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672" y="2157984"/>
            <a:ext cx="530352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06324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B0A0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الجزء الثاني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3474720"/>
            <a:ext cx="107286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تطبيق الموبايل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645920" y="4434840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9AA5B8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تطبيق واحد بتجربتين مختلفتين تمامًا حسب نوع الحساب اللي بيسجّل دخول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21847" y="50292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0E7E74">
              <a:alpha val="1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502920"/>
            <a:ext cx="10500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A1220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تجربة العميل — التسوق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2920" y="1874520"/>
            <a:ext cx="11185855" cy="0"/>
          </a:xfrm>
          <a:prstGeom prst="line">
            <a:avLst/>
          </a:prstGeom>
          <a:noFill/>
          <a:ln w="12700">
            <a:solidFill>
              <a:srgbClr val="E2E8E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0" y="2057400"/>
            <a:ext cx="5287975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التجربة الأساسية اللي بيشوفها أي عميل عادي بمجرد فتح التطبيق</a:t>
            </a:r>
            <a:endParaRPr lang="en-US" sz="12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الرئيسية: عروض حالية، منتجات مقترحة، ووصول سريع لكل الأقسام</a:t>
            </a:r>
            <a:endParaRPr lang="en-US" sz="12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البحث: إيجاد أي منتج فورًا بالاسم</a:t>
            </a:r>
            <a:endParaRPr lang="en-US" sz="12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السلة: مراجعة المنتجات المختارة قبل تأكيد الطلب</a:t>
            </a:r>
            <a:endParaRPr lang="en-US" sz="12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الدفع: الاختيار بين الدفع عند الاستلام أو فودافون كاش أو إنستاباي مع رفع إثبات الدفع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925773" y="2103120"/>
            <a:ext cx="2171814" cy="4041648"/>
          </a:xfrm>
          <a:prstGeom prst="roundRect">
            <a:avLst>
              <a:gd name="adj" fmla="val 5894"/>
            </a:avLst>
          </a:prstGeom>
          <a:solidFill>
            <a:srgbClr val="0A1220"/>
          </a:solidFill>
          <a:ln/>
          <a:effectLst>
            <a:outerShdw blurRad="228600" dist="76200" dir="54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9" name="Image 1" descr="C:\Users\MOHAMED\AppData\Local\Temp\claude\I--United-Motaheda\1da6233e-6f6a-4c7c-bd60-ae4cc190787f\scratchpad\pptx_build\assets\mobile_checkout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72077" y="2249424"/>
            <a:ext cx="1879206" cy="37490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75965" y="2103120"/>
            <a:ext cx="2392070" cy="4041648"/>
          </a:xfrm>
          <a:prstGeom prst="roundRect">
            <a:avLst>
              <a:gd name="adj" fmla="val 5352"/>
            </a:avLst>
          </a:prstGeom>
          <a:solidFill>
            <a:srgbClr val="0A1220"/>
          </a:solidFill>
          <a:ln/>
          <a:effectLst>
            <a:outerShdw blurRad="228600" dist="76200" dir="54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11" name="Image 2" descr="C:\Users\MOHAMED\AppData\Local\Temp\claude\I--United-Motaheda\1da6233e-6f6a-4c7c-bd60-ae4cc190787f\scratchpad\pptx_build\assets\mobile_payment_methods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522269" y="2249424"/>
            <a:ext cx="2099462" cy="374904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028700" y="6327648"/>
            <a:ext cx="1965960" cy="329184"/>
          </a:xfrm>
          <a:prstGeom prst="roundRect">
            <a:avLst>
              <a:gd name="adj" fmla="val 50000"/>
            </a:avLst>
          </a:prstGeom>
          <a:solidFill>
            <a:srgbClr val="0A1220">
              <a:alpha val="8000"/>
            </a:srgbClr>
          </a:solidFill>
          <a:ln/>
        </p:spPr>
      </p:sp>
      <p:sp>
        <p:nvSpPr>
          <p:cNvPr id="13" name="Text 8"/>
          <p:cNvSpPr/>
          <p:nvPr/>
        </p:nvSpPr>
        <p:spPr>
          <a:xfrm>
            <a:off x="1028700" y="632764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السلة وإتمام الطلب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000500" y="6327648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0A1220">
              <a:alpha val="8000"/>
            </a:srgbClr>
          </a:solidFill>
          <a:ln/>
        </p:spPr>
      </p:sp>
      <p:sp>
        <p:nvSpPr>
          <p:cNvPr id="15" name="Text 10"/>
          <p:cNvSpPr/>
          <p:nvPr/>
        </p:nvSpPr>
        <p:spPr>
          <a:xfrm>
            <a:off x="4000500" y="632764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طرق الدفع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21847" y="50292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0E7E74">
              <a:alpha val="1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502920"/>
            <a:ext cx="10500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A1220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تجربة العميل — المتابعة والحساب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2920" y="1874520"/>
            <a:ext cx="11185855" cy="0"/>
          </a:xfrm>
          <a:prstGeom prst="line">
            <a:avLst/>
          </a:prstGeom>
          <a:noFill/>
          <a:ln w="12700">
            <a:solidFill>
              <a:srgbClr val="E2E8E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0" y="2057400"/>
            <a:ext cx="5287975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متابعة كل حاجة خاصة بالعميل بعد إتمام الطلب</a:t>
            </a:r>
            <a:endParaRPr lang="en-US" sz="12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طلباتي: تتبّع حالة كل طلب لحظة بلحظة من التجهيز لحد التسليم</a:t>
            </a:r>
            <a:endParaRPr lang="en-US" sz="12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الروشتات: إضافة روشتة يدويًا، أو بتصوير الملصق (المعالجة على الموبايل نفسه)، أو عبر واتساب</a:t>
            </a:r>
            <a:endParaRPr lang="en-US" sz="12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متابعة حالة مراجعة كل روشتة (تحت المراجعة، تم القبول، أو مرفوضة مع السبب)</a:t>
            </a:r>
            <a:endParaRPr lang="en-US" sz="12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الملف الشخصي: بيانات الحساب، العناوين المحفوظة، وتفضيلات الإشعارات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925773" y="2103120"/>
            <a:ext cx="2171814" cy="4041648"/>
          </a:xfrm>
          <a:prstGeom prst="roundRect">
            <a:avLst>
              <a:gd name="adj" fmla="val 5894"/>
            </a:avLst>
          </a:prstGeom>
          <a:solidFill>
            <a:srgbClr val="0A1220"/>
          </a:solidFill>
          <a:ln/>
          <a:effectLst>
            <a:outerShdw blurRad="228600" dist="76200" dir="54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9" name="Image 1" descr="C:\Users\MOHAMED\AppData\Local\Temp\claude\I--United-Motaheda\1da6233e-6f6a-4c7c-bd60-ae4cc190787f\scratchpad\pptx_build\assets\mobile_orders_list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72077" y="2249424"/>
            <a:ext cx="1879206" cy="37490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87264" y="2103120"/>
            <a:ext cx="2169471" cy="4041648"/>
          </a:xfrm>
          <a:prstGeom prst="roundRect">
            <a:avLst>
              <a:gd name="adj" fmla="val 5901"/>
            </a:avLst>
          </a:prstGeom>
          <a:solidFill>
            <a:srgbClr val="0A1220"/>
          </a:solidFill>
          <a:ln/>
          <a:effectLst>
            <a:outerShdw blurRad="228600" dist="76200" dir="54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11" name="Image 2" descr="C:\Users\MOHAMED\AppData\Local\Temp\claude\I--United-Motaheda\1da6233e-6f6a-4c7c-bd60-ae4cc190787f\scratchpad\pptx_build\assets\mobile_order_detail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33568" y="2249424"/>
            <a:ext cx="1876863" cy="374904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82980" y="6327648"/>
            <a:ext cx="2057400" cy="329184"/>
          </a:xfrm>
          <a:prstGeom prst="roundRect">
            <a:avLst>
              <a:gd name="adj" fmla="val 50000"/>
            </a:avLst>
          </a:prstGeom>
          <a:solidFill>
            <a:srgbClr val="0A1220">
              <a:alpha val="8000"/>
            </a:srgbClr>
          </a:solidFill>
          <a:ln/>
        </p:spPr>
      </p:sp>
      <p:sp>
        <p:nvSpPr>
          <p:cNvPr id="13" name="Text 8"/>
          <p:cNvSpPr/>
          <p:nvPr/>
        </p:nvSpPr>
        <p:spPr>
          <a:xfrm>
            <a:off x="982980" y="632764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طلباتي وتتبع الحالة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3863340" y="63276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0A1220">
              <a:alpha val="8000"/>
            </a:srgbClr>
          </a:solidFill>
          <a:ln/>
        </p:spPr>
      </p:sp>
      <p:sp>
        <p:nvSpPr>
          <p:cNvPr id="15" name="Text 10"/>
          <p:cNvSpPr/>
          <p:nvPr/>
        </p:nvSpPr>
        <p:spPr>
          <a:xfrm>
            <a:off x="3863340" y="63276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تفاصيل الطلب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21847" y="50292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0E7E74">
              <a:alpha val="1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502920"/>
            <a:ext cx="10500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A1220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تجربة السائق — المهام والعروض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9978847" y="132588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6" name="Text 3"/>
          <p:cNvSpPr/>
          <p:nvPr/>
        </p:nvSpPr>
        <p:spPr>
          <a:xfrm>
            <a:off x="9978847" y="13258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جديد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9091879" y="13258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0EA5E9">
              <a:alpha val="12000"/>
            </a:srgbClr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091879" y="13258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سائق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1874520"/>
            <a:ext cx="11185855" cy="0"/>
          </a:xfrm>
          <a:prstGeom prst="line">
            <a:avLst/>
          </a:prstGeom>
          <a:noFill/>
          <a:ln w="12700">
            <a:solidFill>
              <a:srgbClr val="E2E8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2057400"/>
            <a:ext cx="5287975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بمجرد ما يسجّل السائق دخوله، التطبيق بيوريه شاشات مختلفة تمامًا عن العميل — مخصصة للتوصيل فقط</a:t>
            </a:r>
            <a:endParaRPr lang="en-US" sz="13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قائمة مهام يومية توضح كل الطلبات المُسنَدة له حاليًا</a:t>
            </a:r>
            <a:endParaRPr lang="en-US" sz="13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عروض توصيل جديدة تحتاج رد: قبول أو رفض مع كتابة سبب الرفض</a:t>
            </a:r>
            <a:endParaRPr lang="en-US" sz="13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لو السائق رفض، الطلب يترجع تلقائيًا لفريق العمليات لإعادة إسناده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20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45485" y="2103120"/>
            <a:ext cx="2132391" cy="4041648"/>
          </a:xfrm>
          <a:prstGeom prst="roundRect">
            <a:avLst>
              <a:gd name="adj" fmla="val 6003"/>
            </a:avLst>
          </a:prstGeom>
          <a:solidFill>
            <a:srgbClr val="0A1220"/>
          </a:solidFill>
          <a:ln/>
          <a:effectLst>
            <a:outerShdw blurRad="228600" dist="76200" dir="54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13" name="Image 1" descr="C:\Users\MOHAMED\AppData\Local\Temp\claude\I--United-Motaheda\1da6233e-6f6a-4c7c-bd60-ae4cc190787f\scratchpad\pptx_build\assets\mobile_driver_missions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91789" y="2249424"/>
            <a:ext cx="1839783" cy="37490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488436" y="2103120"/>
            <a:ext cx="2167128" cy="4041648"/>
          </a:xfrm>
          <a:prstGeom prst="roundRect">
            <a:avLst>
              <a:gd name="adj" fmla="val 5907"/>
            </a:avLst>
          </a:prstGeom>
          <a:solidFill>
            <a:srgbClr val="0A1220"/>
          </a:solidFill>
          <a:ln/>
        </p:spPr>
      </p:sp>
      <p:sp>
        <p:nvSpPr>
          <p:cNvPr id="15" name="Shape 11"/>
          <p:cNvSpPr/>
          <p:nvPr/>
        </p:nvSpPr>
        <p:spPr>
          <a:xfrm>
            <a:off x="3634740" y="2249424"/>
            <a:ext cx="1874520" cy="3749040"/>
          </a:xfrm>
          <a:prstGeom prst="roundRect">
            <a:avLst>
              <a:gd name="adj" fmla="val 2439"/>
            </a:avLst>
          </a:prstGeom>
          <a:solidFill>
            <a:srgbClr val="1B2432"/>
          </a:solidFill>
          <a:ln w="15875">
            <a:solidFill>
              <a:srgbClr val="3A4658"/>
            </a:solidFill>
            <a:prstDash val="dash"/>
          </a:ln>
        </p:spPr>
      </p:sp>
      <p:sp>
        <p:nvSpPr>
          <p:cNvPr id="16" name="Text 12"/>
          <p:cNvSpPr/>
          <p:nvPr/>
        </p:nvSpPr>
        <p:spPr>
          <a:xfrm>
            <a:off x="3031236" y="3474720"/>
            <a:ext cx="30815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22960" y="632764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0A1220">
              <a:alpha val="8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822960" y="63276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قائمة مهام السائق اليومية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383280" y="632764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0A1220">
              <a:alpha val="8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3383280" y="63276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شاشة قبول أو رفض عرض توصيل جديد</a:t>
            </a:r>
            <a:endParaRPr lang="en-US" sz="10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098D9CB-7DAE-E96E-42B9-3DC007596B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5580" y="2249424"/>
            <a:ext cx="1969169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21847" y="50292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0E7E74">
              <a:alpha val="1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502920"/>
            <a:ext cx="10500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A1220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تجربة السائق — تنفيذ التوصيل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9978847" y="132588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6" name="Text 3"/>
          <p:cNvSpPr/>
          <p:nvPr/>
        </p:nvSpPr>
        <p:spPr>
          <a:xfrm>
            <a:off x="9978847" y="13258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جديد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9091879" y="13258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0EA5E9">
              <a:alpha val="12000"/>
            </a:srgbClr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091879" y="13258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سائق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1874520"/>
            <a:ext cx="11185855" cy="0"/>
          </a:xfrm>
          <a:prstGeom prst="line">
            <a:avLst/>
          </a:prstGeom>
          <a:noFill/>
          <a:ln w="12700">
            <a:solidFill>
              <a:srgbClr val="E2E8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2057400"/>
            <a:ext cx="5287975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الخطوات اللي بيمشي عليها السائق من استلام الطلب لحد تسليمه للعميل</a:t>
            </a:r>
            <a:endParaRPr lang="en-US" sz="12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تأكيد استلام الطلب من الصيدلية</a:t>
            </a:r>
            <a:endParaRPr lang="en-US" sz="12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تحديد “تم التسليم” بعد وصول الطلب للعميل بنجاح</a:t>
            </a:r>
            <a:endParaRPr lang="en-US" sz="12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الإبلاغ عن مشكلة في أي وقت أثناء التوصيل: عميل مش رد، عنوان غير صحيح، منتج تالف، أو أي مشكلة تانية</a:t>
            </a:r>
            <a:endParaRPr lang="en-US" sz="12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كل تحديث بيوصل فورًا لفريق العمليات ولوحة التحكم بدون أي تأخير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21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28116" y="2103120"/>
            <a:ext cx="2167128" cy="4041648"/>
          </a:xfrm>
          <a:prstGeom prst="roundRect">
            <a:avLst>
              <a:gd name="adj" fmla="val 5907"/>
            </a:avLst>
          </a:prstGeom>
          <a:solidFill>
            <a:srgbClr val="0A1220"/>
          </a:solidFill>
          <a:ln/>
          <a:effectLst>
            <a:outerShdw blurRad="228600" dist="76200" dir="54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13" name="Image 3" descr="driver_order_detail_pendin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74420" y="2249424"/>
            <a:ext cx="1874520" cy="3749040"/>
          </a:xfrm>
          <a:prstGeom prst="roundRect">
            <a:avLst>
              <a:gd name="adj" fmla="val 2439"/>
            </a:avLst>
          </a:prstGeom>
        </p:spPr>
      </p:pic>
      <p:sp>
        <p:nvSpPr>
          <p:cNvPr id="15" name="Shape 12"/>
          <p:cNvSpPr/>
          <p:nvPr/>
        </p:nvSpPr>
        <p:spPr>
          <a:xfrm>
            <a:off x="3488436" y="2103120"/>
            <a:ext cx="2167128" cy="4041648"/>
          </a:xfrm>
          <a:prstGeom prst="roundRect">
            <a:avLst>
              <a:gd name="adj" fmla="val 5907"/>
            </a:avLst>
          </a:prstGeom>
          <a:solidFill>
            <a:srgbClr val="0A1220"/>
          </a:solidFill>
          <a:ln/>
          <a:effectLst>
            <a:outerShdw blurRad="228600" dist="76200" dir="54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16" name="Image 4" descr="driver_report_delivery_problem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34740" y="2249424"/>
            <a:ext cx="1874520" cy="3749040"/>
          </a:xfrm>
          <a:prstGeom prst="roundRect">
            <a:avLst>
              <a:gd name="adj" fmla="val 2439"/>
            </a:avLst>
          </a:prstGeom>
        </p:spPr>
      </p:pic>
      <p:sp>
        <p:nvSpPr>
          <p:cNvPr id="18" name="Shape 15"/>
          <p:cNvSpPr/>
          <p:nvPr/>
        </p:nvSpPr>
        <p:spPr>
          <a:xfrm>
            <a:off x="822960" y="632764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0A1220">
              <a:alpha val="8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63276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شاشة تأكيد الاستلام وتحديد التسليم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383280" y="632764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0A1220">
              <a:alpha val="8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3383280" y="63276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شاشة الإبلاغ عن مشكلة أثناء التوصيل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560320"/>
            <a:ext cx="5943600" cy="5943600"/>
          </a:xfrm>
          <a:prstGeom prst="ellipse">
            <a:avLst/>
          </a:prstGeom>
          <a:solidFill>
            <a:srgbClr val="0E7E74">
              <a:alpha val="11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4937760" cy="4937760"/>
          </a:xfrm>
          <a:prstGeom prst="ellipse">
            <a:avLst/>
          </a:prstGeom>
          <a:solidFill>
            <a:srgbClr val="15B0A0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38648" y="1965960"/>
            <a:ext cx="914400" cy="914400"/>
          </a:xfrm>
          <a:prstGeom prst="roundRect">
            <a:avLst>
              <a:gd name="adj" fmla="val 24000"/>
            </a:avLst>
          </a:prstGeom>
          <a:solidFill>
            <a:srgbClr val="FFFFFF">
              <a:alpha val="5000"/>
            </a:srgbClr>
          </a:solidFill>
          <a:ln w="13970">
            <a:solidFill>
              <a:srgbClr val="15B0A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672" y="2157984"/>
            <a:ext cx="530352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06324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B0A0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الجزء الثالث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3474720"/>
            <a:ext cx="107286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الموقع الإلكتروني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645920" y="4434840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9AA5B8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نفس تجربة العميل في التطبيق، لكن من خلال المتصفح مباشرة بدون تحميل أي شيء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21847" y="50292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0E7E74">
              <a:alpha val="1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502920"/>
            <a:ext cx="10500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A1220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الموقع الإلكتروني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2920" y="1874520"/>
            <a:ext cx="11185855" cy="0"/>
          </a:xfrm>
          <a:prstGeom prst="line">
            <a:avLst/>
          </a:prstGeom>
          <a:noFill/>
          <a:ln w="12700">
            <a:solidFill>
              <a:srgbClr val="E2E8E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0" y="2057400"/>
            <a:ext cx="5287975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واجهة كاملة للعملاء اللي يفضّلوا التسوق من المتصفح مباشرة بدل التطبيق</a:t>
            </a:r>
            <a:endParaRPr lang="en-US" sz="12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نفس تجربة التسوق: تصفّح المنتجات، البحث، السلة، والدفع</a:t>
            </a:r>
            <a:endParaRPr lang="en-US" sz="12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متابعة الطلبات وتتبّع حالتها بنفس الطريقة</a:t>
            </a:r>
            <a:endParaRPr lang="en-US" sz="12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صفحات تعريفية إضافية: من نحن، الأسئلة الشائعة، وسياسات الاستخدام</a:t>
            </a:r>
            <a:endParaRPr lang="en-US" sz="12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نفس الحساب يشتغل على الموقع والتطبيق في نفس الوقت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53311" y="2679193"/>
            <a:ext cx="6518671" cy="3125718"/>
          </a:xfrm>
          <a:prstGeom prst="roundRect">
            <a:avLst>
              <a:gd name="adj" fmla="val 1557"/>
            </a:avLst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blurRad="1524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9615" y="2779777"/>
            <a:ext cx="106863" cy="97358"/>
          </a:xfrm>
          <a:prstGeom prst="ellipse">
            <a:avLst/>
          </a:prstGeom>
          <a:solidFill>
            <a:srgbClr val="D8DEDD"/>
          </a:solidFill>
          <a:ln/>
        </p:spPr>
      </p:sp>
      <p:sp>
        <p:nvSpPr>
          <p:cNvPr id="10" name="Shape 7"/>
          <p:cNvSpPr/>
          <p:nvPr/>
        </p:nvSpPr>
        <p:spPr>
          <a:xfrm>
            <a:off x="673351" y="2779777"/>
            <a:ext cx="106863" cy="97358"/>
          </a:xfrm>
          <a:prstGeom prst="ellipse">
            <a:avLst/>
          </a:prstGeom>
          <a:solidFill>
            <a:srgbClr val="D8DEDD"/>
          </a:solidFill>
          <a:ln/>
        </p:spPr>
      </p:sp>
      <p:sp>
        <p:nvSpPr>
          <p:cNvPr id="11" name="Shape 8"/>
          <p:cNvSpPr/>
          <p:nvPr/>
        </p:nvSpPr>
        <p:spPr>
          <a:xfrm>
            <a:off x="847087" y="2779777"/>
            <a:ext cx="106863" cy="97358"/>
          </a:xfrm>
          <a:prstGeom prst="ellipse">
            <a:avLst/>
          </a:prstGeom>
          <a:solidFill>
            <a:srgbClr val="D8DEDD"/>
          </a:solidFill>
          <a:ln/>
        </p:spPr>
      </p:sp>
      <p:sp>
        <p:nvSpPr>
          <p:cNvPr id="12" name="Shape 9"/>
          <p:cNvSpPr/>
          <p:nvPr/>
        </p:nvSpPr>
        <p:spPr>
          <a:xfrm>
            <a:off x="417320" y="2971801"/>
            <a:ext cx="6369062" cy="2746020"/>
          </a:xfrm>
          <a:prstGeom prst="roundRect">
            <a:avLst>
              <a:gd name="adj" fmla="val 1418"/>
            </a:avLst>
          </a:prstGeom>
          <a:solidFill>
            <a:srgbClr val="EFF4F3"/>
          </a:solidFill>
          <a:ln w="12700">
            <a:solidFill>
              <a:srgbClr val="E2E8E7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719071" y="2971801"/>
            <a:ext cx="5663763" cy="2746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الصفحة الرئيسية للموقع الإلكتروني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45ADB94-FA34-8A42-5BD3-4F18F6CAD5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931" y="2938107"/>
            <a:ext cx="6475875" cy="312829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9436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0A1220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كيفية استخدام هذا الدليل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431306" y="1623060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03306" y="189738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0E7E74">
              <a:alpha val="12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1322" y="2025396"/>
            <a:ext cx="246888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705626" y="1824228"/>
            <a:ext cx="42976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كل شاشة موضّح فيها الدور المسموح له بالدخول عليها بشارة ملونة أعلى الصفحة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09448" y="3886200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181448" y="416052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3B82F6">
              <a:alpha val="12000"/>
            </a:srgbClr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464" y="4288536"/>
            <a:ext cx="246888" cy="2468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83768" y="4087368"/>
            <a:ext cx="42976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اتبع نفس ترتيب الأقسام في الدليل عند تدريب أي موظف جديد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233008" y="3886200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10805008" y="416052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D9A441">
              <a:alpha val="12000"/>
            </a:srgbClr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3024" y="4288536"/>
            <a:ext cx="246888" cy="2468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07328" y="4087368"/>
            <a:ext cx="42976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33343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أي قسم مكتوب عليه “جديد” هو تطوير حديث ومش موجود في التدريبات القديمة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3474720"/>
            <a:ext cx="6035040" cy="6035040"/>
          </a:xfrm>
          <a:prstGeom prst="ellipse">
            <a:avLst/>
          </a:prstGeom>
          <a:solidFill>
            <a:srgbClr val="0E7E74">
              <a:alpha val="11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-2926080"/>
            <a:ext cx="5303520" cy="5303520"/>
          </a:xfrm>
          <a:prstGeom prst="ellipse">
            <a:avLst/>
          </a:prstGeom>
          <a:solidFill>
            <a:srgbClr val="15B0A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38648" y="2148840"/>
            <a:ext cx="914400" cy="914400"/>
          </a:xfrm>
          <a:prstGeom prst="roundRect">
            <a:avLst>
              <a:gd name="adj" fmla="val 24000"/>
            </a:avLst>
          </a:prstGeom>
          <a:solidFill>
            <a:srgbClr val="FFFFFF">
              <a:alpha val="5000"/>
            </a:srgbClr>
          </a:solidFill>
          <a:ln w="13970">
            <a:solidFill>
              <a:srgbClr val="15B0A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960" y="2340864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246120"/>
            <a:ext cx="107286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شكرًا لكم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280160" y="4160520"/>
            <a:ext cx="963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9AA5B8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لأي استفسار أو مشكلة أثناء استخدام النظام، تواصلوا مع فريق الدعم الفني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449928" y="5074920"/>
            <a:ext cx="3291840" cy="0"/>
          </a:xfrm>
          <a:prstGeom prst="line">
            <a:avLst/>
          </a:prstGeom>
          <a:noFill/>
          <a:ln w="12700">
            <a:solidFill>
              <a:srgbClr val="0E7E74">
                <a:alpha val="6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525780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15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Pharmacy  ×  Ctrl+Z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1398</Words>
  <Application>Microsoft Office PowerPoint</Application>
  <PresentationFormat>Widescreen</PresentationFormat>
  <Paragraphs>250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Dubai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الدليل الشامل لنظام United Pharmacy</dc:title>
  <dc:subject>PptxGenJS Presentation</dc:subject>
  <dc:creator>Ctrl+Z</dc:creator>
  <cp:lastModifiedBy>Mazen Shazly</cp:lastModifiedBy>
  <cp:revision>3</cp:revision>
  <dcterms:created xsi:type="dcterms:W3CDTF">2026-07-10T17:54:14Z</dcterms:created>
  <dcterms:modified xsi:type="dcterms:W3CDTF">2026-07-11T00:00:07Z</dcterms:modified>
</cp:coreProperties>
</file>