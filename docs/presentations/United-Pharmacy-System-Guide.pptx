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1463040"/>
            <a:ext cx="4572000" cy="4572000"/>
          </a:xfrm>
          <a:prstGeom prst="ellipse">
            <a:avLst/>
          </a:prstGeom>
          <a:solidFill>
            <a:srgbClr val="0E7E7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480560"/>
            <a:ext cx="3840480" cy="384048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ctrl</a:t>
            </a:r>
            <a:pPr algn="l" indent="0" marL="0">
              <a:buNone/>
            </a:pPr>
            <a:r>
              <a:rPr lang="en-US" sz="2200" b="1" dirty="0">
                <a:solidFill>
                  <a:srgbClr val="6EA8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+z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808415" y="502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</a:t>
            </a:r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الدليل الشامل لنظام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Pharmacy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7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الموقع الإلكتروني  •  لوحة التحكم  •  تطبيق الموبايل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978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دليل تشغيلي كامل لكل الأدوار والأقسام  —  إعداد فريق Ctrl+Z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50292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7662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محتويات الدليل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77393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101" y="1847637"/>
            <a:ext cx="419527" cy="41952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181448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645920" y="164592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نظرة عامة على النظام والأدوار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61608" y="146304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735928" y="177393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9628" y="1847637"/>
            <a:ext cx="419527" cy="41952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002975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467448" y="164592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لوحة التحكم — كل الأقسام بالتفصيل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40080" y="288036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14400" y="319125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101" y="32649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81448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1645920" y="306324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تطبيق الموبايل — تجربة العميل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461608" y="288036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735928" y="319125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628" y="3264957"/>
            <a:ext cx="419527" cy="419527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002975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17"/>
          <p:cNvSpPr/>
          <p:nvPr/>
        </p:nvSpPr>
        <p:spPr>
          <a:xfrm>
            <a:off x="7467448" y="306324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تجربة السائق الجديدة في التطبيق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40080" y="429768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14400" y="460857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101" y="4682277"/>
            <a:ext cx="419527" cy="419527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81448" y="4434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1"/>
          <p:cNvSpPr/>
          <p:nvPr/>
        </p:nvSpPr>
        <p:spPr>
          <a:xfrm>
            <a:off x="1645920" y="448056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الموقع الإلكتروني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6461608" y="4297680"/>
            <a:ext cx="5455768" cy="1188720"/>
          </a:xfrm>
          <a:prstGeom prst="roundRect">
            <a:avLst>
              <a:gd name="adj" fmla="val 7692"/>
            </a:avLst>
          </a:prstGeom>
          <a:solidFill>
            <a:srgbClr val="EAF5F3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735928" y="4608576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9628" y="4682277"/>
            <a:ext cx="419527" cy="419527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1002975" y="4434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7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25"/>
          <p:cNvSpPr/>
          <p:nvPr/>
        </p:nvSpPr>
        <p:spPr>
          <a:xfrm>
            <a:off x="7467448" y="4480560"/>
            <a:ext cx="408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كيفية استخدام هذا الدليل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50292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7662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نظرة عامة على النظام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005840"/>
            <a:ext cx="9905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النظام مبني على ثلاثة أجزاء رئيسية تعمل مع بعضها بشكل متكامل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454298" cy="374904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1600200"/>
            <a:ext cx="3454298" cy="1371600"/>
          </a:xfrm>
          <a:prstGeom prst="rect">
            <a:avLst/>
          </a:prstGeom>
          <a:solidFill>
            <a:srgbClr val="0E7E74"/>
          </a:solidFill>
          <a:ln/>
        </p:spPr>
      </p:sp>
      <p:sp>
        <p:nvSpPr>
          <p:cNvPr id="8" name="Shape 5"/>
          <p:cNvSpPr/>
          <p:nvPr/>
        </p:nvSpPr>
        <p:spPr>
          <a:xfrm>
            <a:off x="2001469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567" y="2061058"/>
            <a:ext cx="541325" cy="5413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1089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الموقع الإلكتروني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914400" y="365760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واجهة العملاء على المتصفح — تصفّح، شراء، متابعة الطلبات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68698" y="1600200"/>
            <a:ext cx="3454298" cy="374904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68698" y="1600200"/>
            <a:ext cx="3454298" cy="1371600"/>
          </a:xfrm>
          <a:prstGeom prst="rect">
            <a:avLst/>
          </a:prstGeom>
          <a:solidFill>
            <a:srgbClr val="0A1220"/>
          </a:solidFill>
          <a:ln/>
        </p:spPr>
      </p:sp>
      <p:sp>
        <p:nvSpPr>
          <p:cNvPr id="14" name="Shape 10"/>
          <p:cNvSpPr/>
          <p:nvPr/>
        </p:nvSpPr>
        <p:spPr>
          <a:xfrm>
            <a:off x="5730088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5185" y="2061058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51578" y="31089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لوحة التحكم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43018" y="365760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أدوات فريق العمل — الطلبات، المخزون، الروشتات، التوصيل، الموظفين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097317" y="1600200"/>
            <a:ext cx="3454298" cy="374904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097317" y="1600200"/>
            <a:ext cx="3454298" cy="1371600"/>
          </a:xfrm>
          <a:prstGeom prst="rect">
            <a:avLst/>
          </a:prstGeom>
          <a:solidFill>
            <a:srgbClr val="C9971C"/>
          </a:solidFill>
          <a:ln/>
        </p:spPr>
      </p:sp>
      <p:sp>
        <p:nvSpPr>
          <p:cNvPr id="20" name="Shape 15"/>
          <p:cNvSpPr/>
          <p:nvPr/>
        </p:nvSpPr>
        <p:spPr>
          <a:xfrm>
            <a:off x="9458706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3804" y="2061058"/>
            <a:ext cx="541325" cy="5413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80197" y="31089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تطبيق الموبايل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8371637" y="365760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تطبيق واحد بتجربتين: العميل يتسوق، والسائق يوصّل الطلبات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الأدوار في النظام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9905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شخص بيشتغل بالنظام له دور محدد، وكل دور له مهمته والأقسام المتاحة له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22815" y="1609344"/>
            <a:ext cx="1600200" cy="896112"/>
          </a:xfrm>
          <a:prstGeom prst="roundRect">
            <a:avLst>
              <a:gd name="adj" fmla="val 12245"/>
            </a:avLst>
          </a:prstGeom>
          <a:solidFill>
            <a:srgbClr val="0A1220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0035" y="1719072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22815" y="21031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الأدمن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68680" y="1645920"/>
            <a:ext cx="85798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صلاحية كاملة على كل أجزاء لوحة التحكم بدون استثناء</a:t>
            </a:r>
            <a:endParaRPr lang="en-US" sz="135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الأقسام المتاحة: كل الأقسام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2724912"/>
            <a:ext cx="10911535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722815" y="2779776"/>
            <a:ext cx="1600200" cy="896112"/>
          </a:xfrm>
          <a:prstGeom prst="roundRect">
            <a:avLst>
              <a:gd name="adj" fmla="val 12245"/>
            </a:avLst>
          </a:prstGeom>
          <a:solidFill>
            <a:srgbClr val="0E7E74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0035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722815" y="32735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المدير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68680" y="2816352"/>
            <a:ext cx="85798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العمليات اليومية للطلبات والتوصيل والمخزون</a:t>
            </a:r>
            <a:endParaRPr lang="en-US" sz="135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الأقسام المتاحة: كل الأقسام ما عدا إدارة الموظفين والمستخدمين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3895344"/>
            <a:ext cx="10911535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722815" y="3950208"/>
            <a:ext cx="1600200" cy="896112"/>
          </a:xfrm>
          <a:prstGeom prst="roundRect">
            <a:avLst>
              <a:gd name="adj" fmla="val 12245"/>
            </a:avLst>
          </a:prstGeom>
          <a:solidFill>
            <a:srgbClr val="C9971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0035" y="4059936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722815" y="44439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الصيدلي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868680" y="3986784"/>
            <a:ext cx="85798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مراجعة الروشتات ومتابعة المنتجات والطلبات الخاصة</a:t>
            </a:r>
            <a:endParaRPr lang="en-US" sz="135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الأقسام المتاحة: الرئيسية، الروشتات، المنتجات، الإدخال السريع، الطلبات الخاصة، الإشعارات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40080" y="5065776"/>
            <a:ext cx="10911535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722815" y="5120640"/>
            <a:ext cx="1600200" cy="896112"/>
          </a:xfrm>
          <a:prstGeom prst="roundRect">
            <a:avLst>
              <a:gd name="adj" fmla="val 12245"/>
            </a:avLst>
          </a:prstGeom>
          <a:solidFill>
            <a:srgbClr val="3B5BA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0035" y="5230368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722815" y="561441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السائق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868680" y="5157216"/>
            <a:ext cx="85798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استلام وتنفيذ طلبات التوصيل المُسنَدة له</a:t>
            </a:r>
            <a:endParaRPr lang="en-US" sz="135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الأقسام المتاحة: قسم مستقل بالكامل — خارج لوحة التحكم تمامًا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4114800"/>
            <a:ext cx="4572000" cy="45720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096719"/>
            <a:ext cx="744322" cy="7443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200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0E7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الجزء الأول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لوحة التحكم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371600" y="443484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الأقسام اللي هيستخدمها فريق العمل يوميًا — بالتفصيل، قسم بقسم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الرئيسية — لوحة المعلومات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أول شاشة بتظهر بعد الدخول — نظرة سريعة وشاملة على أداء الصيدلية في نفس اللحظة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إحصائيات المبيعات وعدد الطلبات اليوم والشهر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أكثر المنتجات مبيعًا خلال الفترة الحالية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تنبيه فوري عند انخفاض مخزون أي منتج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روابط سريعة لكل الأقسام التانية في النظام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الشاشة الرئيسية للوحة التحكم بعد تسجيل الدخول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إدارة الطلبات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2" name="Shape 7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متابعة كل طلب من لحظة ما العميل يطلبه لحد ما يوصله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قائمة كل طلبات العملاء مع إمكانية البحث والفلترة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تفاصيل كاملة لكل طلب: المنتجات، العميل، العنوان، السعر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تغيير حالة الطلب خطوة بخطوة (قيد الانتظار، قيد التجهيز، خرج للتوصيل، تم التسليم)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التحقق من إثبات الدفع اليدوي لطلبات فودافون كاش وإنستاباي وقبوله أو رفضه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7" name="Shape 11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الطلبات الرئيسية مع الفلاتر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1" name="Shape 14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تفاصيل طلب واحد وتغيير حالته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مركز العمليات — لوحة التوصيل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2" name="Shape 7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الشاشة المخصصة لإدارة التوصيل بالكامل — تعيين السائقين ومتابعة كل طلب لحظة بلحظة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تعيين سائق لأي طلب بضغطة واحدة من قائمة السائقين النشطين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حالة كل طلب وموقعه في رحلة التوصيل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إحصائيات سريعة: عدد الطلبات في كل حالة، وعدد السائقين المشغولين حاليًا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بحث وفلترة حسب السائق أو حالة الطلب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7" name="Shape 11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لوحة التوصيل الرئيسية بكل الطلبات والسائقين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نظام قبول ورفض السائق (جديد)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2" name="Shape 7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تطوير جديد بيدي فريق العمليات رؤية كاملة لرد فعل السائق على أي طلب، مش بس تعيينه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السائق بيقدر يقبل أو يرفض الطلب المُسنَد له بدل ما يكون إجباري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شارة ملوّنة توضح من قد إيه السائق مستني الرد (أخضر ثم أصفر ثم أحمر كل ما الوقت طال)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لو السائق رفض، الطلب يترجع تلقائيًا ويقدر أي مسؤول يعيد إسناده لسائق تاني بضغطة واحدة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قسم مستقل يجمع كل المشاكل اللي بلّغ عنها السائقين أثناء التوصيل عشان تتراجع وتتحل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7" name="Shape 11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شارة الوقت المنقضي وحالة رد السائق على كل طلب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1" name="Shape 14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قسم مشاكل التوصيل وكيفية حلها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إدارة الروشتات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مراجعة كل روشتة يبعتها عميل، والموافقة عليها أو رفضها قبل ما يتم صرفها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تبويبين منفصلين: روشتات جديدة، وطلبات إعادة صرف روشتة قديمة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تفاصيل كل روشتة: اسم الدواء، الجرعة، اسم الطبيب، ورقم الروشتة إن وُجد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الموافقة أو الرفض مع كتابة سبب واضح في حالة الرفض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العميل بياخد إشعار فوري بقرار المراجعة على التطبيق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الروشتات الجديدة المنتظرة للمراجعة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4" name="Shape 16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مراجعة روشتة واحدة والموافقة أو الرفض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إدارة المنتجات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التحكم الكامل في كتالوج المنتجات — الإضافة، التعديل، المخزون، والعروض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إضافة أو تعديل أو حذف أي منتج يدويًا مع كل بياناته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استيراد ملف CSV لإضافة عدد كبير من المنتجات دفعة واحدة (مفيد جدًا عند توريد جديد)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مسح باركود المنتج فعليًا وربطه بسجله في النظام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تفعيل عرض على أي منتج وتحديد السعر الأصلي قبل الخصم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المنتجات وخيارات التعديل والعروض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4" name="Shape 16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نافذة استيراد ملف CSV لعدد كبير من المنتجات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الإدخال السريع للمنتجات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مختصرة ومباشرة لإضافة منتجات بسرعة وقت الجرد أو استلام شحنة كبيرة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نموذج مبسّط يركّز على أهم البيانات فقط بدل كل التفاصيل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أسرع بكثير من شاشة إدارة المنتجات العادية للحالات المستعجلة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مناسبة لحظة استلام توريد جديد بكمية كبيرة من الأصناف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نموذج الإدخال السريع لمنتج جديد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الطلبات الخاصة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طلبات العملاء على منتجات مش موجودة حاليًا في كتالوج المتجر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عرض تفاصيل طلب العميل: اسم المنتج المطلوب، الكمية، وبيانات التواصل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حالة كل طلب لحد ما يتم توفير المنتج أو الرد على العميل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قناة تواصل مباشرة تضمن إن طلب العميل ميضيعش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الطلبات الخاصة الواردة من العملاء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إدارة الموظفين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9" name="Shape 5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حسابات كل فريق العمل — الصيادلة، المديرين، والسائقين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إضافة موظف جديد وتحديد دوره في النظام (مدير، صيدلي، سائق)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تفعيل أو إيقاف حساب أي موظف مؤقتًا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حالة كل موظف (نشط أو غير نشط) في أي وقت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الموظفين وحالة كل حساب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إدارة المستخدمين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9" name="Shape 5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كل حسابات العملاء المسجلين في المتجر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البحث عن أي عميل بالاسم أو رقم الهاتف أو البريد الإلكتروني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إيقاف حساب عميل مؤقتًا مع كتابة السبب بشكل واضح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حذف حساب نهائيًا عند الحاجة، مع الاحتفاظ بسجل كامل للإجراء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سجل تدقيق يوضح كل إجراء اتخذ ومين اللي اتخذه ومتى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العملاء المسجلين وأدوات البحث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نافذة إيقاف أو حذف حساب عميل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الإشعارات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A122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أدمن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30007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E7E74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59" y="21031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140903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6668719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C9971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031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79615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صيدلي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15" name="Shape 9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إرسال إشعارات يدوية للعملاء، بجانب الإشعارات التلقائية اللي بيرسلها النظام نفسه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اختيار المستلمين بالبحث بالاسم أو رقم الهاتف أو البريد الإلكتروني مباشرة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معاينة كل مستلم بالصورة والاسم قبل تأكيد الإرسال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إرسال لعميل واحد أو لمجموعة عملاء دفعة واحدة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مباشرة لكل الإشعارات اللي بتتبعت في النظام لحظة بلحظة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تجهيز وإرسال إشعار جديد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24" name="Shape 16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سجل الإشعارات المُرسلة مباشرة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4114800"/>
            <a:ext cx="4572000" cy="45720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096719"/>
            <a:ext cx="744322" cy="7443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200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0E7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الجزء الثاني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تطبيق الموبايل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371600" y="443484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تطبيق واحد بتجربتين مختلفتين تمامًا حسب نوع الحساب اللي بيسجّل دخول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تجربة العميل — التسوق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6" name="Shape 3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التجربة الأساسية اللي بيشوفها أي عميل عادي بمجرد فتح التطبيق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الرئيسية: عروض حالية، منتجات مقترحة، ووصول سريع لكل الأقسام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البحث: إيجاد أي منتج فورًا بالاسم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السلة: مراجعة المنتجات المختارة قبل تأكيد الطلب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الدفع: الاختيار بين الدفع عند الاستلام أو فودافون كاش أو إنستاباي مع رفع إثبات الدفع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الشاشة الرئيسية للتطبيق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5" name="Shape 10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السلة وإتمام الدفع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تجربة العميل — المتابعة والحساب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6" name="Shape 3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متابعة كل حاجة خاصة بالعميل بعد إتمام الطلب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طلباتي: تتبّع حالة كل طلب لحظة بلحظة من التجهيز لحد التسليم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الروشتات: إضافة روشتة يدويًا، أو بتصوير الملصق (المعالجة على الموبايل نفسه)، أو عبر واتساب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حالة مراجعة كل روشتة (تحت المراجعة، تم القبول، أو مرفوضة مع السبب)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الملف الشخصي: بيانات الحساب، العناوين المحفوظة، وتفضيلات الإشعارات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طلباتي وتتبع الحالة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5" name="Shape 10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شاشات إضافة الروشتة الثلاثة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تجربة السائق — المهام والعروض (جديد)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B5BA9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سائق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9" name="Shape 5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بمجرد ما يسجّل السائق دخوله، التطبيق بيوريه شاشات مختلفة تمامًا عن العميل — مخصصة للتوصيل فقط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قائمة مهام يومية توضح كل الطلبات المُسنَدة له حاليًا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عروض توصيل جديدة تحتاج رد: قبول أو رفض مع كتابة سبب الرفض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لو السائق رفض، الطلب يترجع تلقائيًا لفريق العمليات لإعادة إسناده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مهام السائق اليومية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قبول أو رفض عرض توصيل جديد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تجربة السائق — تنفيذ التوصيل (جديد)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8991295" y="1371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B5BA9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21031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02191" y="1371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سائق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9" name="Shape 5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الخطوات اللي بيمشي عليها السائق من استلام الطلب لحد تسليمه للعميل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تأكيد استلام الطلب من الصيدلية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تحديد "تم التسليم" بعد وصول الطلب للعميل بنجاح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الإبلاغ عن مشكلة في أي وقت أثناء التوصيل: عميل مش رد، عنوان غير صحيح، منتج تالف، أو أي مشكلة تانية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كل تحديث بيوصل فورًا لفريق العمليات ولوحة التحكم بدون أي تأخير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141732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2985516" y="194767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217" y="2021373"/>
            <a:ext cx="419527" cy="4195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تأكيد الاستلام وتحديد التسليم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40080" y="379476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2985516" y="4325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217" y="4398813"/>
            <a:ext cx="419527" cy="41952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1440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الإبلاغ عن مشكلة أثناء التوصيل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4114800"/>
            <a:ext cx="4572000" cy="457200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965960"/>
            <a:ext cx="1005840" cy="1005840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2096719"/>
            <a:ext cx="744322" cy="7443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200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0E7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الجزء الثالث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الموقع الإلكتروني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371600" y="443484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نفس تجربة العميل في التطبيق، لكن من خلال المتصفح مباشرة بدون تحميل أي شيء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5720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الموقع الإلكتروني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263640" y="141732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/>
        </p:spPr>
      </p:sp>
      <p:sp>
        <p:nvSpPr>
          <p:cNvPr id="6" name="Shape 3"/>
          <p:cNvSpPr/>
          <p:nvPr/>
        </p:nvSpPr>
        <p:spPr>
          <a:xfrm>
            <a:off x="6464808" y="1591056"/>
            <a:ext cx="548640" cy="548640"/>
          </a:xfrm>
          <a:prstGeom prst="ellipse">
            <a:avLst/>
          </a:prstGeom>
          <a:solidFill>
            <a:srgbClr val="C9971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131" y="1662379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78040" y="1417320"/>
            <a:ext cx="4190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واجهة كاملة للعملاء اللي يفضّلوا التسوق من المتصفح مباشرة بدل التطبيق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263640" y="2514600"/>
            <a:ext cx="52879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نفس تجربة التسوق: تصفّح المنتجات، البحث، السلة، والدفع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متابعة الطلبات وتتبّع حالتها بنفس الطريقة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صفحات تعريفية إضافية: من نحن، الأسئلة الشائعة، وسياسات الاستخدام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نفس الحساب يشتغل على الموقع والتطبيق في نفس الوقت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141732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EAF5F3"/>
          </a:solidFill>
          <a:ln w="15875">
            <a:solidFill>
              <a:srgbClr val="0E7E74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2985516" y="31363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17" y="3210093"/>
            <a:ext cx="419527" cy="41952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749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الصفحة الرئيسية للموقع الإلكتروني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502920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3796" y="57662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كيفية استخدام هذا الدليل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EAF5F3"/>
          </a:solidFill>
          <a:ln/>
        </p:spPr>
      </p:sp>
      <p:sp>
        <p:nvSpPr>
          <p:cNvPr id="6" name="Shape 3"/>
          <p:cNvSpPr/>
          <p:nvPr/>
        </p:nvSpPr>
        <p:spPr>
          <a:xfrm>
            <a:off x="10957255" y="1792224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956" y="1865925"/>
            <a:ext cx="419527" cy="41952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1600200"/>
            <a:ext cx="9448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شاشة موضّح فيها الدور المسموح له بالدخول عليها بشارة ملونة أعلى الصفحة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40080" y="2743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EAF5F3"/>
          </a:solidFill>
          <a:ln/>
        </p:spPr>
      </p:sp>
      <p:sp>
        <p:nvSpPr>
          <p:cNvPr id="10" name="Shape 6"/>
          <p:cNvSpPr/>
          <p:nvPr/>
        </p:nvSpPr>
        <p:spPr>
          <a:xfrm>
            <a:off x="10957255" y="2935224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0956" y="3008925"/>
            <a:ext cx="419527" cy="41952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2743200"/>
            <a:ext cx="9448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المكان المنقّط في كل شاشة هو مكانك تحط فيه صورة حقيقية من النظام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886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EAF5F3"/>
          </a:solidFill>
          <a:ln/>
        </p:spPr>
      </p:sp>
      <p:sp>
        <p:nvSpPr>
          <p:cNvPr id="14" name="Shape 9"/>
          <p:cNvSpPr/>
          <p:nvPr/>
        </p:nvSpPr>
        <p:spPr>
          <a:xfrm>
            <a:off x="10957255" y="4078224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956" y="4151925"/>
            <a:ext cx="419527" cy="4195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3886200"/>
            <a:ext cx="9448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اتبع نفس ترتيب الأقسام في الدليل عند تدريب أي موظف جديد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EAF5F3"/>
          </a:solidFill>
          <a:ln/>
        </p:spPr>
      </p:sp>
      <p:sp>
        <p:nvSpPr>
          <p:cNvPr id="18" name="Shape 12"/>
          <p:cNvSpPr/>
          <p:nvPr/>
        </p:nvSpPr>
        <p:spPr>
          <a:xfrm>
            <a:off x="10957255" y="5221224"/>
            <a:ext cx="566928" cy="566928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0956" y="5294925"/>
            <a:ext cx="419527" cy="41952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68680" y="5029200"/>
            <a:ext cx="9448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أي قسم مكتوب عليه "جديد" هو تطوير حديث ومش موجود في التدريبات القديمة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1463040"/>
            <a:ext cx="4572000" cy="4572000"/>
          </a:xfrm>
          <a:prstGeom prst="ellipse">
            <a:avLst/>
          </a:prstGeom>
          <a:solidFill>
            <a:srgbClr val="0E7E7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480560"/>
            <a:ext cx="3840480" cy="3840480"/>
          </a:xfrm>
          <a:prstGeom prst="ellipse">
            <a:avLst/>
          </a:prstGeom>
          <a:solidFill>
            <a:srgbClr val="0E7E7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1554480"/>
            <a:ext cx="1005840" cy="1005840"/>
          </a:xfrm>
          <a:prstGeom prst="ellipse">
            <a:avLst/>
          </a:prstGeom>
          <a:solidFill>
            <a:srgbClr val="0E7E7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687" y="1685239"/>
            <a:ext cx="744322" cy="7443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7432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شكرًا لكم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371600" y="361188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لأي استفسار أو مشكلة أثناء استخدام النظام، تواصلوا مع فريق الدعم الفني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Pharmacy  ×  Ctrl+Z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الدليل الشامل لنظام يونايتد فارماسي</dc:title>
  <dc:subject>PptxGenJS Presentation</dc:subject>
  <dc:creator>Ctrl+Z</dc:creator>
  <cp:lastModifiedBy>Ctrl+Z</cp:lastModifiedBy>
  <cp:revision>1</cp:revision>
  <dcterms:created xsi:type="dcterms:W3CDTF">2026-07-07T14:53:27Z</dcterms:created>
  <dcterms:modified xsi:type="dcterms:W3CDTF">2026-07-07T14:53:27Z</dcterms:modified>
</cp:coreProperties>
</file>