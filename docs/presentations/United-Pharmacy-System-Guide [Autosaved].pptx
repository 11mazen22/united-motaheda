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088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572000" cy="4572000"/>
          </a:xfrm>
          <a:prstGeom prst="ellipse">
            <a:avLst/>
          </a:prstGeom>
          <a:solidFill>
            <a:srgbClr val="0E7E7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الدليل الشامل لنظام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Pharmacy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 الإلكتروني  •  لوحة التحكم  •  تطبيق الموبايل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8978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دليل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تشغيلي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كامل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لكل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الأدوار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والأقسام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Ctrl+Zإعداد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فريق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821289-529E-B287-F63E-C38C5B097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9" y="115038"/>
            <a:ext cx="1622322" cy="16223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24CEAF-F5B3-2F03-647E-07BD2507C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355" y="68829"/>
            <a:ext cx="1668531" cy="1668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50292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محتويات الدليل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455768" cy="1188720"/>
          </a:xfrm>
          <a:prstGeom prst="roundRect">
            <a:avLst>
              <a:gd name="adj" fmla="val 7692"/>
            </a:avLst>
          </a:prstGeom>
          <a:solidFill>
            <a:srgbClr val="EAF5F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773936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01" y="1847637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448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645920" y="1645920"/>
            <a:ext cx="408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النظام والأدوار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61608" y="1463040"/>
            <a:ext cx="5455768" cy="1188720"/>
          </a:xfrm>
          <a:prstGeom prst="roundRect">
            <a:avLst>
              <a:gd name="adj" fmla="val 7692"/>
            </a:avLst>
          </a:prstGeom>
          <a:solidFill>
            <a:srgbClr val="EAF5F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735928" y="1773936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628" y="1847637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02975" y="1600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467448" y="1645920"/>
            <a:ext cx="408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التحكم — كل الأقسام بالتفصيل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2880360"/>
            <a:ext cx="5455768" cy="1188720"/>
          </a:xfrm>
          <a:prstGeom prst="roundRect">
            <a:avLst>
              <a:gd name="adj" fmla="val 7692"/>
            </a:avLst>
          </a:prstGeom>
          <a:solidFill>
            <a:srgbClr val="EAF5F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3191256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101" y="3264957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1448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645920" y="3063240"/>
            <a:ext cx="408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الموبايل — تجربة العميل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61608" y="2880360"/>
            <a:ext cx="5455768" cy="1188720"/>
          </a:xfrm>
          <a:prstGeom prst="roundRect">
            <a:avLst>
              <a:gd name="adj" fmla="val 7692"/>
            </a:avLst>
          </a:prstGeom>
          <a:solidFill>
            <a:srgbClr val="EAF5F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35928" y="3191256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9628" y="3264957"/>
            <a:ext cx="419527" cy="4195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002975" y="3017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467448" y="3063240"/>
            <a:ext cx="408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السائق الجديدة في التطبيق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40080" y="4297680"/>
            <a:ext cx="5455768" cy="1188720"/>
          </a:xfrm>
          <a:prstGeom prst="roundRect">
            <a:avLst>
              <a:gd name="adj" fmla="val 7692"/>
            </a:avLst>
          </a:prstGeom>
          <a:solidFill>
            <a:srgbClr val="EAF5F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914400" y="4608576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101" y="4682277"/>
            <a:ext cx="419527" cy="41952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81448" y="4434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1"/>
          <p:cNvSpPr/>
          <p:nvPr/>
        </p:nvSpPr>
        <p:spPr>
          <a:xfrm>
            <a:off x="1645920" y="4480560"/>
            <a:ext cx="408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 الإلكتروني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461608" y="4297680"/>
            <a:ext cx="5455768" cy="1188720"/>
          </a:xfrm>
          <a:prstGeom prst="roundRect">
            <a:avLst>
              <a:gd name="adj" fmla="val 7692"/>
            </a:avLst>
          </a:prstGeom>
          <a:solidFill>
            <a:srgbClr val="EAF5F3"/>
          </a:solidFill>
          <a:ln/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735928" y="4608576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09628" y="4682277"/>
            <a:ext cx="419527" cy="41952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002975" y="4434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E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25"/>
          <p:cNvSpPr/>
          <p:nvPr/>
        </p:nvSpPr>
        <p:spPr>
          <a:xfrm>
            <a:off x="7467448" y="4480560"/>
            <a:ext cx="4084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كيفية استخدام هذا الدليل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50292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نظرة عامة على النظام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00584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النظام مبني على ثلاثة أجزاء رئيسية تعمل مع بعضها بشكل متكامل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3454298" cy="374904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600200"/>
            <a:ext cx="3454298" cy="1371600"/>
          </a:xfrm>
          <a:prstGeom prst="rect">
            <a:avLst/>
          </a:prstGeom>
          <a:solidFill>
            <a:srgbClr val="0E7E74"/>
          </a:solidFill>
          <a:ln/>
        </p:spPr>
      </p:sp>
      <p:sp>
        <p:nvSpPr>
          <p:cNvPr id="8" name="Shape 5"/>
          <p:cNvSpPr/>
          <p:nvPr/>
        </p:nvSpPr>
        <p:spPr>
          <a:xfrm>
            <a:off x="2001469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567" y="206105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31089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الموقع الإلكتروني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36576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العملاء على المتصفح — تصفّح، شراء، متابعة الطلبات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68698" y="1600200"/>
            <a:ext cx="3454298" cy="374904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68698" y="1600200"/>
            <a:ext cx="3454298" cy="13716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4" name="Shape 10"/>
          <p:cNvSpPr/>
          <p:nvPr/>
        </p:nvSpPr>
        <p:spPr>
          <a:xfrm>
            <a:off x="5730088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5185" y="206105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51578" y="31089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لوحة التحكم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643018" y="36576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أدوات فريق العمل — الطلبات، المخزون، الروشتات، التوصيل، الموظفين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97317" y="1600200"/>
            <a:ext cx="3454298" cy="3749040"/>
          </a:xfrm>
          <a:prstGeom prst="roundRect">
            <a:avLst>
              <a:gd name="adj" fmla="val 31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97317" y="1600200"/>
            <a:ext cx="3454298" cy="1371600"/>
          </a:xfrm>
          <a:prstGeom prst="rect">
            <a:avLst/>
          </a:prstGeom>
          <a:solidFill>
            <a:srgbClr val="C9971C"/>
          </a:solidFill>
          <a:ln/>
        </p:spPr>
      </p:sp>
      <p:sp>
        <p:nvSpPr>
          <p:cNvPr id="20" name="Shape 15"/>
          <p:cNvSpPr/>
          <p:nvPr/>
        </p:nvSpPr>
        <p:spPr>
          <a:xfrm>
            <a:off x="9458706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804" y="2061058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80197" y="3108960"/>
            <a:ext cx="3088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تطبيق الموبايل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8371637" y="365760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واحد بتجربتين: العميل يتسوق، والسائق يوصّل الطلبات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الأدوار في النظام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شخص بيشتغل بالنظام له دور محدد، وكل دور له مهمته والأقسام المتاحة له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722815" y="1609344"/>
            <a:ext cx="1600200" cy="896112"/>
          </a:xfrm>
          <a:prstGeom prst="roundRect">
            <a:avLst>
              <a:gd name="adj" fmla="val 12245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0035" y="171907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722815" y="21031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الأدمن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68680" y="1645920"/>
            <a:ext cx="85798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صلاحية كاملة على كل أجزاء لوحة التحكم بدون استثناء</a:t>
            </a:r>
            <a:endParaRPr lang="en-US" sz="135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الأقسام المتاحة: كل الأقسام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2724912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722815" y="2779776"/>
            <a:ext cx="1600200" cy="896112"/>
          </a:xfrm>
          <a:prstGeom prst="roundRect">
            <a:avLst>
              <a:gd name="adj" fmla="val 12245"/>
            </a:avLst>
          </a:prstGeom>
          <a:solidFill>
            <a:srgbClr val="0E7E7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0035" y="288950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722815" y="32735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68680" y="2816352"/>
            <a:ext cx="85798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العمليات اليومية للطلبات والتوصيل والمخزون</a:t>
            </a:r>
            <a:endParaRPr lang="en-US" sz="135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الأقسام المتاحة: كل الأقسام ما عدا إدارة الموظفين والمستخدمين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3895344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22815" y="3950208"/>
            <a:ext cx="1600200" cy="896112"/>
          </a:xfrm>
          <a:prstGeom prst="roundRect">
            <a:avLst>
              <a:gd name="adj" fmla="val 12245"/>
            </a:avLst>
          </a:prstGeom>
          <a:solidFill>
            <a:srgbClr val="C9971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0035" y="4059936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22815" y="444398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الصيدلي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3986784"/>
            <a:ext cx="85798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الروشتات ومتابعة المنتجات والطلبات الخاصة</a:t>
            </a:r>
            <a:endParaRPr lang="en-US" sz="135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الأقسام المتاحة: الرئيسية، الروشتات، المنتجات، الإدخال السريع، الطلبات الخاصة، الإشعارات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40080" y="5065776"/>
            <a:ext cx="10911535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722815" y="5120640"/>
            <a:ext cx="1600200" cy="896112"/>
          </a:xfrm>
          <a:prstGeom prst="roundRect">
            <a:avLst>
              <a:gd name="adj" fmla="val 12245"/>
            </a:avLst>
          </a:prstGeom>
          <a:solidFill>
            <a:srgbClr val="3B5BA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0035" y="523036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722815" y="5614416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السائق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68680" y="5157216"/>
            <a:ext cx="85798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استلام وتنفيذ طلبات التوصيل المُسنَدة له</a:t>
            </a:r>
            <a:endParaRPr lang="en-US" sz="1350" dirty="0"/>
          </a:p>
          <a:p>
            <a:pPr marL="0" indent="0" algn="r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الأقسام المتاحة: قسم مستقل بالكامل — خارج لوحة التحكم تمامًا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0967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الجزء الأول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لوحة التحكم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44348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الأقسام اللي هيستخدمها فريق العمل يوميًا — بالتفصيل، قسم بقسم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الرئيسية — لوحة المعلومات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013101" y="177481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473" y="241985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87911" y="161025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372100" y="156784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282" y="237744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10734" y="165141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220262" y="165141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9971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994" y="23774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63162" y="1567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5" name="Shape 9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أول شاشة بتظهر بعد الدخول — نظرة سريعة وشاملة على أداء الصيدلية في نفس اللحظة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إحصائيات المبيعات وعدد الطلبات اليوم والشهر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أكثر المنتجات مبيعًا خلال الفترة الحالية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تنبيه فوري عند انخفاض مخزون أي منتج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روابط سريعة لكل الأقسام التانية في النظام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2985516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EDB67D-7924-A408-F331-1871A41B6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973" y="2406500"/>
            <a:ext cx="8400392" cy="4040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الطلبات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2" name="Shape 7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كل طلب من لحظة ما العميل يطلبه لحد ما يوصله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قائمة كل طلبات العملاء مع إمكانية البحث والفلترة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تفاصيل كاملة لكل طلب: المنتجات، العميل، العنوان، السعر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تغيير حالة الطلب خطوة بخطوة (قيد الانتظار، قيد التجهيز، خرج للتوصيل، تم التسليم)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التحقق من إثبات الدفع اليدوي لطلبات فودافون كاش وإنستاباي وقبوله أو رفضه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3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1" name="Shape 14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تفاصيل طلب واحد وتغيير حالته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ACB984D-02DE-052B-E6E6-298EAD08BCE8}"/>
              </a:ext>
            </a:extLst>
          </p:cNvPr>
          <p:cNvSpPr/>
          <p:nvPr/>
        </p:nvSpPr>
        <p:spPr>
          <a:xfrm>
            <a:off x="6656620" y="157140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AF7DF16F-E74D-BB48-48CE-E8B0FECBF7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221644"/>
            <a:ext cx="219456" cy="219456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6B51975C-6C25-2426-6A65-14BF6BFD89AC}"/>
              </a:ext>
            </a:extLst>
          </p:cNvPr>
          <p:cNvSpPr/>
          <p:nvPr/>
        </p:nvSpPr>
        <p:spPr>
          <a:xfrm>
            <a:off x="7031430" y="1406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F4FF4-AA23-B897-B0D5-1DC6A26488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1" y="502920"/>
            <a:ext cx="6175480" cy="3250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مركز العمليات — لوحة التوصيل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93784" y="309067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2" name="Shape 7"/>
          <p:cNvSpPr/>
          <p:nvPr/>
        </p:nvSpPr>
        <p:spPr>
          <a:xfrm>
            <a:off x="707710" y="475488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19" y="551887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08184" y="309067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الشاشة المخصصة لإدارة التوصيل بالكامل — تعيين السائقين ومتابعة كل طلب لحظة بلحظة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3784" y="1406347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تعيين سائق لأي طلب بضغطة واحدة من قائمة السائقين النشطين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متابعة حالة كل طلب وموقعه في رحلة التوصيل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إحصائيات سريعة: عدد الطلبات في كل حالة، وعدد السائقين المشغولين حاليًا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بحث وفلترة حسب السائق أو حالة الطلب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2985516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3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20F542A8-188F-F0B2-323C-527F441627F0}"/>
              </a:ext>
            </a:extLst>
          </p:cNvPr>
          <p:cNvSpPr/>
          <p:nvPr/>
        </p:nvSpPr>
        <p:spPr>
          <a:xfrm>
            <a:off x="6668860" y="146961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87066293-A71C-5A87-A02D-3AD9A7741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232" y="211465"/>
            <a:ext cx="219456" cy="219456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8CE3763D-12F9-E6B6-4F21-BCF30F22F864}"/>
              </a:ext>
            </a:extLst>
          </p:cNvPr>
          <p:cNvSpPr/>
          <p:nvPr/>
        </p:nvSpPr>
        <p:spPr>
          <a:xfrm>
            <a:off x="7043670" y="130505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57055-1154-501C-4B04-7508A0BF9E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1026" y="2721758"/>
            <a:ext cx="9709947" cy="40057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نظام قبول </a:t>
            </a:r>
            <a:r>
              <a:rPr lang="en-US" sz="2800" b="1" dirty="0" err="1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ورفض</a:t>
            </a: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144417" y="1550661"/>
            <a:ext cx="5440064" cy="900513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2" name="Shape 7"/>
          <p:cNvSpPr/>
          <p:nvPr/>
        </p:nvSpPr>
        <p:spPr>
          <a:xfrm>
            <a:off x="5385239" y="647978"/>
            <a:ext cx="724615" cy="684846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226" y="716081"/>
            <a:ext cx="548639" cy="5486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91934" y="1576666"/>
            <a:ext cx="4311225" cy="900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جديد بيدي فريق العمليات رؤية كاملة لرد فعل السائق على أي طلب، مش بس تعيينه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3144417" y="2647941"/>
            <a:ext cx="5440064" cy="3872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السائق بيقدر يقبل أو يرفض الطلب المُسنَد له بدل ما يكون إجباري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شارة ملوّنة توضح من قد إيه السائق مستني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الرد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أخضر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ثم أصفر ثم أحمر كل ما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الوقت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طال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لو السائق رفض، الطلب يترجع تلقائيًا ويقدر أي مسؤول يعيد إسناده لسائق تاني بضغطة واحدة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قسم مستقل يجمع كل المشاكل اللي بلّغ عنها السائقين أثناء التوصيل عشان تتراجع وتتحل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F1ECDDB2-C949-CB03-9671-5D65578C2163}"/>
              </a:ext>
            </a:extLst>
          </p:cNvPr>
          <p:cNvSpPr/>
          <p:nvPr/>
        </p:nvSpPr>
        <p:spPr>
          <a:xfrm>
            <a:off x="6656620" y="137919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2755F289-2506-0620-3850-B783DE018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202423"/>
            <a:ext cx="219456" cy="219456"/>
          </a:xfrm>
          <a:prstGeom prst="rect">
            <a:avLst/>
          </a:prstGeom>
        </p:spPr>
      </p:pic>
      <p:sp>
        <p:nvSpPr>
          <p:cNvPr id="30" name="Text 3">
            <a:extLst>
              <a:ext uri="{FF2B5EF4-FFF2-40B4-BE49-F238E27FC236}">
                <a16:creationId xmlns:a16="http://schemas.microsoft.com/office/drawing/2014/main" id="{0405CFED-EA65-E39D-EAF8-074D3CE483F4}"/>
              </a:ext>
            </a:extLst>
          </p:cNvPr>
          <p:cNvSpPr/>
          <p:nvPr/>
        </p:nvSpPr>
        <p:spPr>
          <a:xfrm>
            <a:off x="7031430" y="121463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الروشتات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668719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9971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871" y="2103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9615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822328" y="405135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5" name="Shape 9"/>
          <p:cNvSpPr/>
          <p:nvPr/>
        </p:nvSpPr>
        <p:spPr>
          <a:xfrm>
            <a:off x="1023496" y="578871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819" y="650194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99413" y="382905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مراجعة كل روشتة يبعتها عميل، والموافقة عليها أو رفضها قبل ما يتم صرفها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22328" y="1502415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تبويبين منفصلين: روشتات جديدة، وطلبات إعادة صرف روشتة قديمة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تفاصيل كل روشتة: اسم الدواء، الجرعة، اسم الطبيب، ورقم الروشتة إن وُجد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الموافقة أو الرفض مع كتابة سبب واضح في حالة الرفض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العميل بياخد إشعار فوري بقرار المراجعة على التطبيق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55F198B1-CB13-874C-EE17-A2CC241BAFD8}"/>
              </a:ext>
            </a:extLst>
          </p:cNvPr>
          <p:cNvSpPr/>
          <p:nvPr/>
        </p:nvSpPr>
        <p:spPr>
          <a:xfrm>
            <a:off x="5486188" y="157482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D231CD50-9486-47D5-EFAE-0C670E156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221986"/>
            <a:ext cx="219456" cy="219456"/>
          </a:xfrm>
          <a:prstGeom prst="rect">
            <a:avLst/>
          </a:prstGeom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088371BB-3037-1BD6-9206-FB853EDBAA04}"/>
              </a:ext>
            </a:extLst>
          </p:cNvPr>
          <p:cNvSpPr/>
          <p:nvPr/>
        </p:nvSpPr>
        <p:spPr>
          <a:xfrm>
            <a:off x="5860998" y="14102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DB8C6B-04E0-5F60-3AA4-563259A8D9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948" y="2825170"/>
            <a:ext cx="9346136" cy="38753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المنتجات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668719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9971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871" y="2103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9615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5" name="Shape 9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التحكم الكامل في كتالوج المنتجات — الإضافة، التعديل، المخزون، والعروض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إضافة أو تعديل أو حذف أي منتج يدويًا مع كل بياناته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استيراد ملف CSV لإضافة عدد كبير من المنتجات دفعة واحدة (مفيد جدًا عند توريد جديد)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مسح باركود المنتج فعليًا وربطه بسجله في النظام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تفعيل عرض على أي منتج وتحديد السعر الأصلي قبل الخصم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المنتجات وخيارات التعديل والعروض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4" name="Shape 16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نافذة استيراد ملف CSV لعدد كبير من المنتجات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A7AC9CD9-1D31-A421-DC7D-6F457CE09717}"/>
              </a:ext>
            </a:extLst>
          </p:cNvPr>
          <p:cNvSpPr/>
          <p:nvPr/>
        </p:nvSpPr>
        <p:spPr>
          <a:xfrm>
            <a:off x="5507572" y="142775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86B39CC1-F5C5-6217-4BCA-DF06B76471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4944" y="207279"/>
            <a:ext cx="219456" cy="219456"/>
          </a:xfrm>
          <a:prstGeom prst="rect">
            <a:avLst/>
          </a:prstGeom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0BEDEAFE-00B0-4E9B-6AB4-DCCD932B4283}"/>
              </a:ext>
            </a:extLst>
          </p:cNvPr>
          <p:cNvSpPr/>
          <p:nvPr/>
        </p:nvSpPr>
        <p:spPr>
          <a:xfrm>
            <a:off x="5882382" y="126319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الإدخال السريع للمنتجات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668719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9971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871" y="2103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9615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5" name="Shape 9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مختصرة ومباشرة لإضافة منتجات بسرعة وقت الجرد أو استلام شحنة كبيرة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نموذج مبسّط يركّز على أهم البيانات فقط بدل كل التفاصيل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أسرع بكثير من شاشة إدارة المنتجات العادية للحالات المستعجلة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مناسبة لحظة استلام توريد جديد بكمية كبيرة من الأصناف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14173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2985516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217" y="3210093"/>
            <a:ext cx="419527" cy="4195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1440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نموذج الإدخال السريع لمنتج جديد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07C58FB9-2784-F59A-B8D5-69E83654D140}"/>
              </a:ext>
            </a:extLst>
          </p:cNvPr>
          <p:cNvSpPr/>
          <p:nvPr/>
        </p:nvSpPr>
        <p:spPr>
          <a:xfrm>
            <a:off x="5486188" y="137919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CB50311D-3226-11A2-89BD-1BF3F1AC27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3560" y="202423"/>
            <a:ext cx="219456" cy="219456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D0B05932-269A-7686-767D-419184052C0E}"/>
              </a:ext>
            </a:extLst>
          </p:cNvPr>
          <p:cNvSpPr/>
          <p:nvPr/>
        </p:nvSpPr>
        <p:spPr>
          <a:xfrm>
            <a:off x="5860998" y="121463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الطلبات الخاصة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668719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9971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871" y="2103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9615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5" name="Shape 9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طلبات العملاء على منتجات مش موجودة حاليًا في كتالوج المتجر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عرض تفاصيل طلب العميل: اسم المنتج المطلوب، الكمية، وبيانات التواصل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متابعة حالة كل طلب لحد ما يتم توفير المنتج أو الرد على العميل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قناة تواصل مباشرة تضمن إن طلب العميل ميضيعش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14173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2985516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217" y="3210093"/>
            <a:ext cx="419527" cy="4195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1440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الطلبات الخاصة الواردة من العملاء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02E437F4-AB4D-B470-B6DF-13AF933E55FE}"/>
              </a:ext>
            </a:extLst>
          </p:cNvPr>
          <p:cNvSpPr/>
          <p:nvPr/>
        </p:nvSpPr>
        <p:spPr>
          <a:xfrm>
            <a:off x="5523282" y="145388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EE58C0C6-43CB-04F6-34B1-FB06CA29C3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0654" y="209892"/>
            <a:ext cx="219456" cy="219456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77ED833D-ED88-CA35-3C85-BEDBEE861F50}"/>
              </a:ext>
            </a:extLst>
          </p:cNvPr>
          <p:cNvSpPr/>
          <p:nvPr/>
        </p:nvSpPr>
        <p:spPr>
          <a:xfrm>
            <a:off x="5898092" y="12893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الموظفين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9" name="Shape 5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حسابات كل فريق العمل — الصيادلة، المديرين، والسائقين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إضافة موظف جديد وتحديد دوره في النظام (مدير، صيدلي، سائق)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تفعيل أو إيقاف حساب أي موظف مؤقتًا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متابعة حالة كل موظف (نشط أو غير نشط) في أي وقت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14173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2985516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3210093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الموظفين وحالة كل حساب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A69D6556-73C3-2A2F-6FAD-2B6B465F6E46}"/>
              </a:ext>
            </a:extLst>
          </p:cNvPr>
          <p:cNvSpPr/>
          <p:nvPr/>
        </p:nvSpPr>
        <p:spPr>
          <a:xfrm>
            <a:off x="7614598" y="112977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8ECA46EF-A505-0EDD-9D98-EA917D2CF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970" y="177481"/>
            <a:ext cx="219456" cy="219456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CF01BB3D-B076-A54C-C468-CBE65CB23421}"/>
              </a:ext>
            </a:extLst>
          </p:cNvPr>
          <p:cNvSpPr/>
          <p:nvPr/>
        </p:nvSpPr>
        <p:spPr>
          <a:xfrm>
            <a:off x="7989408" y="96521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المستخدمين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9" name="Shape 5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كل حسابات العملاء المسجلين في المتجر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البحث عن أي عميل بالاسم أو رقم الهاتف أو البريد الإلكتروني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إيقاف حساب عميل مؤقتًا مع كتابة السبب بشكل واضح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حذف حساب نهائيًا عند الحاجة، مع الاحتفاظ بسجل كامل للإجراء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سجل تدقيق يوضح كل إجراء اتخذ ومين اللي اتخذه ومتى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العملاء المسجلين وأدوات البحث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نافذة إيقاف أو حذف حساب عميل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1D003F0D-E33E-2535-2B02-2B2E6A01935B}"/>
              </a:ext>
            </a:extLst>
          </p:cNvPr>
          <p:cNvSpPr/>
          <p:nvPr/>
        </p:nvSpPr>
        <p:spPr>
          <a:xfrm>
            <a:off x="7476946" y="112977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9D7E34AD-6A39-1480-B94E-C8C9278035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4318" y="177481"/>
            <a:ext cx="219456" cy="219456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A0C47996-F7CC-A719-B749-1FFBC8A7005A}"/>
              </a:ext>
            </a:extLst>
          </p:cNvPr>
          <p:cNvSpPr/>
          <p:nvPr/>
        </p:nvSpPr>
        <p:spPr>
          <a:xfrm>
            <a:off x="7851756" y="96521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الإشعارات</a:t>
            </a:r>
            <a:endParaRPr lang="en-US" sz="2800" dirty="0"/>
          </a:p>
        </p:txBody>
      </p:sp>
      <p:sp>
        <p:nvSpPr>
          <p:cNvPr id="8" name="Shape 4"/>
          <p:cNvSpPr/>
          <p:nvPr/>
        </p:nvSpPr>
        <p:spPr>
          <a:xfrm>
            <a:off x="7830007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0E7E7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3159" y="210312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0903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6668719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9971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871" y="21031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9615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صيدلي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15" name="Shape 9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إرسال إشعارات يدوية للعملاء، بجانب الإشعارات التلقائية اللي بيرسلها النظام نفسه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اختيار المستلمين بالبحث بالاسم أو رقم الهاتف أو البريد الإلكتروني مباشرة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معاينة كل مستلم بالصورة والاسم قبل تأكيد الإرسال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إرسال لعميل واحد أو لمجموعة عملاء دفعة واحدة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متابعة مباشرة لكل الإشعارات اللي بتتبعت في النظام لحظة بلحظة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0" name="Shape 13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تجهيز وإرسال إشعار جديد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24" name="Shape 16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الإشعارات المُرسلة مباشرة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B4386B38-22BA-3692-1E47-9A49C7E4340D}"/>
              </a:ext>
            </a:extLst>
          </p:cNvPr>
          <p:cNvSpPr/>
          <p:nvPr/>
        </p:nvSpPr>
        <p:spPr>
          <a:xfrm>
            <a:off x="5498381" y="145808"/>
            <a:ext cx="1051560" cy="36576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809FAD4E-7360-4769-B713-710D897289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5753" y="210312"/>
            <a:ext cx="219456" cy="219456"/>
          </a:xfrm>
          <a:prstGeom prst="rect">
            <a:avLst/>
          </a:prstGeom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631D2EFC-D75A-AD47-D709-73DFD5615A20}"/>
              </a:ext>
            </a:extLst>
          </p:cNvPr>
          <p:cNvSpPr/>
          <p:nvPr/>
        </p:nvSpPr>
        <p:spPr>
          <a:xfrm>
            <a:off x="5873191" y="1293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أدمن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0967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الجزء الثاني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تطبيق الموبايل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44348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تطبيق واحد بتجربتين مختلفتين تمامًا حسب نوع الحساب اللي بيسجّل دخول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تجربة العميل — التسوق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6" name="Shape 3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التجربة الأساسية اللي بيشوفها أي عميل عادي بمجرد فتح التطبيق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الرئيسية: عروض حالية، منتجات مقترحة، ووصول سريع لكل الأقسام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البحث: إيجاد أي منتج فورًا بالاسم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السلة: مراجعة المنتجات المختارة قبل تأكيد الطلب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الدفع: الاختيار بين الدفع عند الاستلام أو فودافون كاش أو إنستاباي مع رفع إثبات الدفع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الشاشة الرئيسية للتطبيق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السلة وإتمام الدفع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تجربة العميل — المتابعة والحساب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6" name="Shape 3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كل حاجة خاصة بالعميل بعد إتمام الطلب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طلباتي: تتبّع حالة كل طلب لحظة بلحظة من التجهيز لحد التسليم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الروشتات: إضافة روشتة يدويًا، أو بتصوير الملصق (المعالجة على الموبايل نفسه)، أو عبر واتساب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متابعة حالة مراجعة كل روشتة (تحت المراجعة، تم القبول، أو مرفوضة مع السبب)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الملف الشخصي: بيانات الحساب، العناوين المحفوظة، وتفضيلات الإشعارات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طلباتي وتتبع الحالة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5" name="Shape 10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شاشات إضافة الروشتة الثلاثة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تجربة السائق — المهام والعروض (جديد)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991295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B5BA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447" y="21031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2191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سائق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9" name="Shape 5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بمجرد ما يسجّل السائق دخوله، التطبيق بيوريه شاشات مختلفة تمامًا عن العميل — مخصصة للتوصيل فقط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قائمة مهام يومية توضح كل الطلبات المُسنَدة له حاليًا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عروض توصيل جديدة تحتاج رد: قبول أو رفض مع كتابة سبب الرفض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لو السائق رفض، الطلب يترجع تلقائيًا لفريق العمليات لإعادة إسناده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مهام السائق اليومية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قبول أو رفض عرض توصيل جديد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تجربة السائق — تنفيذ التوصيل (جديد)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991295" y="13716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3B5BA9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447" y="210312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02191" y="1371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سائق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9" name="Shape 5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الخطوات اللي بيمشي عليها السائق من استلام الطلب لحد تسليمه للعميل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تأكيد استلام الطلب من الصيدلية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تحديد "تم التسليم" بعد وصول الطلب للعميل بنجاح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الإبلاغ عن مشكلة في أي وقت أثناء التوصيل: عميل مش رد، عنوان غير صحيح، منتج تالف، أو أي مشكلة تانية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كل تحديث بيوصل فورًا لفريق العمليات ولوحة التحكم بدون أي تأخير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141732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4" name="Shape 9"/>
          <p:cNvSpPr/>
          <p:nvPr/>
        </p:nvSpPr>
        <p:spPr>
          <a:xfrm>
            <a:off x="2985516" y="1947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217" y="2021373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تأكيد الاستلام وتحديد التسليم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0080" y="37947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8" name="Shape 12"/>
          <p:cNvSpPr/>
          <p:nvPr/>
        </p:nvSpPr>
        <p:spPr>
          <a:xfrm>
            <a:off x="2985516" y="4325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217" y="4398813"/>
            <a:ext cx="419527" cy="4195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4937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الإبلاغ عن مشكلة أثناء التوصيل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209671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الجزء الثالث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الموقع الإلكتروني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371600" y="443484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نفس تجربة العميل في التطبيق، لكن من خلال المتصفح مباشرة بدون تحميل أي شيء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5720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1148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الموقع الإلكتروني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263640" y="1417320"/>
            <a:ext cx="5287975" cy="914400"/>
          </a:xfrm>
          <a:prstGeom prst="roundRect">
            <a:avLst>
              <a:gd name="adj" fmla="val 8000"/>
            </a:avLst>
          </a:prstGeom>
          <a:solidFill>
            <a:srgbClr val="FBF3E1"/>
          </a:solidFill>
          <a:ln/>
        </p:spPr>
      </p:sp>
      <p:sp>
        <p:nvSpPr>
          <p:cNvPr id="6" name="Shape 3"/>
          <p:cNvSpPr/>
          <p:nvPr/>
        </p:nvSpPr>
        <p:spPr>
          <a:xfrm>
            <a:off x="6464808" y="1591056"/>
            <a:ext cx="548640" cy="548640"/>
          </a:xfrm>
          <a:prstGeom prst="ellipse">
            <a:avLst/>
          </a:prstGeom>
          <a:solidFill>
            <a:srgbClr val="C9971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131" y="1662379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417320"/>
            <a:ext cx="4190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كاملة للعملاء اللي يفضّلوا التسوق من المتصفح مباشرة بدل التطبيق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263640" y="2514600"/>
            <a:ext cx="52879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نفس تجربة التسوق: تصفّح المنتجات، البحث، السلة، والدفع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متابعة الطلبات وتتبّع حالتها بنفس الطريقة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صفحات تعريفية إضافية: من نحن، الأسئلة الشائعة، وسياسات الاستخدام</a:t>
            </a:r>
            <a:endParaRPr lang="en-US" sz="1400" dirty="0"/>
          </a:p>
          <a:p>
            <a:pPr marL="0" indent="0" algn="r">
              <a:spcAft>
                <a:spcPts val="1000"/>
              </a:spcAft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نفس الحساب يشتغل على الموقع والتطبيق في نفس الوقت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14173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AF5F3"/>
          </a:solidFill>
          <a:ln w="15875">
            <a:solidFill>
              <a:srgbClr val="0E7E74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2985516" y="31363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217" y="3210093"/>
            <a:ext cx="419527" cy="4195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749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الصفحة الرئيسية للموقع الإلكتروني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502920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796" y="57662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كيفية استخدام هذا الدليل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F3"/>
          </a:solidFill>
          <a:ln/>
        </p:spPr>
      </p:sp>
      <p:sp>
        <p:nvSpPr>
          <p:cNvPr id="6" name="Shape 3"/>
          <p:cNvSpPr/>
          <p:nvPr/>
        </p:nvSpPr>
        <p:spPr>
          <a:xfrm>
            <a:off x="10957255" y="1792224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956" y="1865925"/>
            <a:ext cx="419527" cy="419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600200"/>
            <a:ext cx="9448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شاشة موضّح فيها الدور المسموح له بالدخول عليها بشارة ملونة أعلى الصفحة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2743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F3"/>
          </a:solidFill>
          <a:ln/>
        </p:spPr>
      </p:sp>
      <p:sp>
        <p:nvSpPr>
          <p:cNvPr id="10" name="Shape 6"/>
          <p:cNvSpPr/>
          <p:nvPr/>
        </p:nvSpPr>
        <p:spPr>
          <a:xfrm>
            <a:off x="10957255" y="2935224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0956" y="3008925"/>
            <a:ext cx="419527" cy="4195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743200"/>
            <a:ext cx="9448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المكان المنقّط في كل شاشة هو مكانك تحط فيه صورة حقيقية من النظام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886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F3"/>
          </a:solidFill>
          <a:ln/>
        </p:spPr>
      </p:sp>
      <p:sp>
        <p:nvSpPr>
          <p:cNvPr id="14" name="Shape 9"/>
          <p:cNvSpPr/>
          <p:nvPr/>
        </p:nvSpPr>
        <p:spPr>
          <a:xfrm>
            <a:off x="10957255" y="4078224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0956" y="4151925"/>
            <a:ext cx="419527" cy="419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886200"/>
            <a:ext cx="9448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اتبع نفس ترتيب الأقسام في الدليل عند تدريب أي موظف جديد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40080" y="5029200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EAF5F3"/>
          </a:solidFill>
          <a:ln/>
        </p:spPr>
      </p:sp>
      <p:sp>
        <p:nvSpPr>
          <p:cNvPr id="18" name="Shape 12"/>
          <p:cNvSpPr/>
          <p:nvPr/>
        </p:nvSpPr>
        <p:spPr>
          <a:xfrm>
            <a:off x="10957255" y="5221224"/>
            <a:ext cx="566928" cy="566928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0956" y="5294925"/>
            <a:ext cx="419527" cy="4195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680" y="5029200"/>
            <a:ext cx="9448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قسم مكتوب عليه "جديد" هو تطوير حديث ومش موجود في التدريبات القديمة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572000" cy="4572000"/>
          </a:xfrm>
          <a:prstGeom prst="ellipse">
            <a:avLst/>
          </a:prstGeom>
          <a:solidFill>
            <a:srgbClr val="0E7E7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0E7E7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0E7E7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687" y="168523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شكرًا لكم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لأي استفسار أو مشكلة أثناء استخدام النظام، تواصلوا مع فريق الدعم الفني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E7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Pharmacy  ×  Ctrl+Z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1478</Words>
  <Application>Microsoft Office PowerPoint</Application>
  <PresentationFormat>Widescreen</PresentationFormat>
  <Paragraphs>244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الدليل الشامل لنظام يونايتد فارماسي</dc:title>
  <dc:subject>PptxGenJS Presentation</dc:subject>
  <dc:creator>Ctrl+Z</dc:creator>
  <cp:lastModifiedBy>Mazen Shazly</cp:lastModifiedBy>
  <cp:revision>3</cp:revision>
  <dcterms:created xsi:type="dcterms:W3CDTF">2026-07-07T14:53:27Z</dcterms:created>
  <dcterms:modified xsi:type="dcterms:W3CDTF">2026-07-07T18:30:21Z</dcterms:modified>
</cp:coreProperties>
</file>